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gdwczgkwBs7WpTPJlJAH6y5Iv0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45F06F-716C-4071-8184-3D2FD055E739}">
  <a:tblStyle styleId="{9245F06F-716C-4071-8184-3D2FD055E73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me | Rajalakshmi Engineering College (REC)" id="159" name="Google Shape;15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720" y="497541"/>
            <a:ext cx="3580560" cy="115596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"/>
          <p:cNvSpPr txBox="1"/>
          <p:nvPr/>
        </p:nvSpPr>
        <p:spPr>
          <a:xfrm>
            <a:off x="1488141" y="1653501"/>
            <a:ext cx="9601199" cy="3931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Cyber Security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2026-2027- Odd Semester</a:t>
            </a:r>
            <a:endParaRPr/>
          </a:p>
          <a:p>
            <a:pPr indent="-228600" lvl="0" marL="2286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 Year / V Sem</a:t>
            </a:r>
            <a:endParaRPr/>
          </a:p>
          <a:p>
            <a:pPr indent="-228600" lvl="0" marL="2286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CS23533-FOUNDATIONS OF ARTIFICIAL INTELLIGENCE</a:t>
            </a:r>
            <a:endParaRPr/>
          </a:p>
          <a:p>
            <a:pPr indent="-228600" lvl="0" marL="2286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Project: Explainable AI-Based Medical Expert System</a:t>
            </a:r>
            <a:endParaRPr/>
          </a:p>
          <a:p>
            <a:pPr indent="-228600" lvl="0" marL="2286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Rule-Based Reasoning (MEDIXAI)</a:t>
            </a:r>
            <a:endParaRPr/>
          </a:p>
          <a:p>
            <a:pPr indent="-228600" lvl="0" marL="2286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1 – 17.09.2026</a:t>
            </a:r>
            <a:endParaRPr/>
          </a:p>
        </p:txBody>
      </p:sp>
      <p:sp>
        <p:nvSpPr>
          <p:cNvPr id="161" name="Google Shape;161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900"/>
              <a:buFont typeface="Arial"/>
              <a:buNone/>
            </a:pPr>
            <a:r>
              <a:rPr b="0" lang="en-US" sz="9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Rajalakshmi Engineering College, Department of Cyber Security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68" name="Google Shape;168;p2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9" name="Google Shape;169;p2"/>
          <p:cNvSpPr txBox="1"/>
          <p:nvPr/>
        </p:nvSpPr>
        <p:spPr>
          <a:xfrm>
            <a:off x="685800" y="1097280"/>
            <a:ext cx="107899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20" u="none" cap="none" strike="noStrike">
                <a:solidFill>
                  <a:srgbClr val="5F6973"/>
                </a:solidFill>
                <a:latin typeface="Arial"/>
                <a:ea typeface="Arial"/>
                <a:cs typeface="Arial"/>
                <a:sym typeface="Arial"/>
              </a:rPr>
              <a:t>• MEDIXAI is an explainable medical expert-system project built entirely with Classical Artificial Intelligence.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Domain: Artificial Intelligence — knowledge representation, logical reasoning and expert systems in healthcare.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2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Users enter or search symptoms; a knowledge base and inference engine derive ranked possible diseases using rules rather than trained ML models.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2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system is designed to show why a conclusion was reached through rules fired, matched facts and an explicit reasoning trace.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2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project uses no Machine Learning or Deep Learning and remains aligned with the FOAI syllabus.</a:t>
            </a:r>
            <a:endParaRPr/>
          </a:p>
        </p:txBody>
      </p:sp>
      <p:sp>
        <p:nvSpPr>
          <p:cNvPr id="170" name="Google Shape;170;p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685800" y="1097280"/>
            <a:ext cx="107899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F6973"/>
                </a:solidFill>
                <a:latin typeface="Arial"/>
                <a:ea typeface="Arial"/>
                <a:cs typeface="Arial"/>
                <a:sym typeface="Arial"/>
              </a:rPr>
              <a:t>• Many symptom-checking systems return a result with little explanation of how it was reached.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Traditional rule-based systems are often hard-coded, support only one inference method and are difficult to extend.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Contradictory symptom inputs may not be detected, which reduces the transparency of the reasoning process.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There is limited side-by-side comparison of Forward Chaining, Backward Chaining and logical resolution in student medical expert systems.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transparent, extensible and user-friendly Classical-AI expert system is therefore needed for educational decision support.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685800" y="1097280"/>
            <a:ext cx="107899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5F6973"/>
                </a:solidFill>
                <a:latin typeface="Arial"/>
                <a:ea typeface="Arial"/>
                <a:cs typeface="Arial"/>
                <a:sym typeface="Arial"/>
              </a:rPr>
              <a:t>• Healthcare is a strong domain for demonstrating how knowledge, rules and inference can support decision-making.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Explainable reasoning helps users understand which symptoms and rules contributed to each suggested disease.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database-driven knowledge base allows new diseases, symptoms and rules to be added without changing the inference engine.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Comparing multiple reasoning strategies makes the project more research-oriented and directly connects it to FOAI concepts.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polished desktop application can make Classical AI easier to demonstrate during reviews and viva.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685800" y="1097280"/>
            <a:ext cx="107899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5F6973"/>
                </a:solidFill>
                <a:latin typeface="Arial"/>
                <a:ea typeface="Arial"/>
                <a:cs typeface="Arial"/>
                <a:sym typeface="Arial"/>
              </a:rPr>
              <a:t>To develop a rule-based medical expert system for disease diagnosis support.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represent medical knowledge using structured facts, IF–THEN rules and First-Order Logic.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implement Forward Chaining and Backward Chaining inference techniques.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use Resolution for logical consistency and contradiction checking.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generate explainable results by displaying the inference path, rules fired and matched/missing symptoms.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compare reasoning techniques using rules checked, execution time and result consistency.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build a scalable, user-friendly application using free and open-source tools.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205" name="Google Shape;205;p6"/>
          <p:cNvGraphicFramePr/>
          <p:nvPr/>
        </p:nvGraphicFramePr>
        <p:xfrm>
          <a:off x="411480" y="1051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{9245F06F-716C-4071-8184-3D2FD055E739}</a:tableStyleId>
              </a:tblPr>
              <a:tblGrid>
                <a:gridCol w="640075"/>
                <a:gridCol w="2194550"/>
                <a:gridCol w="2286000"/>
                <a:gridCol w="2926075"/>
                <a:gridCol w="3291850"/>
              </a:tblGrid>
              <a:tr h="109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S.No.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Author &amp; Year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Method / Technique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Findings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Limitations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</a:tr>
              <a:tr h="501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E. H. Shortliffe, 1976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MYCIN; rule-based medical expert 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Showed that explicit medical rules and inference can support diagnostic consultation.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Narrow knowledge domain; knowledge acquisition and maintenance are manual.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  <a:tr h="521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Mustafa, Saad &amp; Rizkallah, 2023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Enhanced case-based + rule-based medical diagnosis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Demonstrates combining stored cases and explicit rules for medical decision support.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engineering and maintenance remain significant tasks.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89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Atim &amp; Ibrahim, 2025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Backward-chaining rule-based expert 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Uses symptom-driven backward chaining for a focused disease-diagnosis domain.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Focused scope and mainly one inference strategy; limited comparison across reasoning methods.</a:t>
                      </a:r>
                      <a:endParaRPr b="0" sz="940" u="none" cap="none" strike="noStrike">
                        <a:solidFill>
                          <a:srgbClr val="2832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40">
                        <a:solidFill>
                          <a:srgbClr val="2832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  <a:tr h="69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0" sz="940" u="none" cap="none" strike="noStrike">
                        <a:solidFill>
                          <a:srgbClr val="2832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Rahimi &amp; Darasi, 2017 </a:t>
                      </a:r>
                      <a:endParaRPr b="0" sz="940" u="none" cap="none" strike="noStrike">
                        <a:solidFill>
                          <a:srgbClr val="2832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Combined Forward and Backward Chaining Expert System </a:t>
                      </a:r>
                      <a:endParaRPr b="0" sz="940" u="none" cap="none" strike="noStrike">
                        <a:solidFill>
                          <a:srgbClr val="2832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Demonstrates accelerating medical diagnosis time by dynamically switching between forward data processing and backward hypothesis validation. </a:t>
                      </a:r>
                      <a:endParaRPr b="0" sz="940" u="none" cap="none" strike="noStrike">
                        <a:solidFill>
                          <a:srgbClr val="2832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Primarily focused on a single condition (spinal cord disorders); lacks explicit First-Order Logic (FOL) resolution for detecting contradictory input facts. </a:t>
                      </a:r>
                      <a:endParaRPr b="0" sz="940" u="none" cap="none" strike="noStrike">
                        <a:solidFill>
                          <a:srgbClr val="2832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A"/>
                    </a:solidFill>
                  </a:tcPr>
                </a:tc>
              </a:tr>
              <a:tr h="894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="0" sz="940" u="none" cap="none" strike="noStrike">
                        <a:solidFill>
                          <a:srgbClr val="2832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Al-Ajlan, 2015 </a:t>
                      </a:r>
                      <a:endParaRPr b="0" sz="940" u="none" cap="none" strike="noStrike">
                        <a:solidFill>
                          <a:srgbClr val="2832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Comparative Analysis of Forward vs. Backward Chaining in Rule-Based Systems </a:t>
                      </a:r>
                      <a:endParaRPr b="0" sz="940" u="none" cap="none" strike="noStrike">
                        <a:solidFill>
                          <a:srgbClr val="2832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Validates that hybrid inference strategies improve diagnostic accuracy and query efficiency over single-strategy rule engines. </a:t>
                      </a:r>
                      <a:endParaRPr b="0" sz="940" u="none" cap="none" strike="noStrike">
                        <a:solidFill>
                          <a:srgbClr val="2832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US" sz="940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Examines inference methods in isolation without integrating weighted rule confidence scoring or full explainability traces. </a:t>
                      </a:r>
                      <a:endParaRPr b="0" sz="940" u="none" cap="none" strike="noStrike">
                        <a:solidFill>
                          <a:srgbClr val="28323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" name="Google Shape;206;p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Existing System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640080" y="1143000"/>
            <a:ext cx="53035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5F6973"/>
                </a:solidFill>
                <a:latin typeface="Arial"/>
                <a:ea typeface="Arial"/>
                <a:cs typeface="Arial"/>
                <a:sym typeface="Arial"/>
              </a:rPr>
              <a:t>• Existing approach: predefined symptom-to-disease rules in a fixed knowledge base.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Common design: symptom input → one inference method → one disease result.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Advantages: transparent rules, simple implementation and no training dataset required.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Limitations: limited explanation, hard-coded knowledge, weak contradiction handling and little comparison between inference strategies.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400800" y="1234440"/>
            <a:ext cx="4846320" cy="347472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420"/>
              <a:buFont typeface="Arial"/>
              <a:buNone/>
            </a:pPr>
            <a:r>
              <a:rPr b="1" lang="en-US" sz="142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Symptoms Entered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Fixed Rule Base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Single Inference Method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Disease Result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20">
              <a:solidFill>
                <a:srgbClr val="1F3A5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Issue: difficult to extend and limited reasoning trace</a:t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System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640080" y="1143000"/>
            <a:ext cx="53035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0">
                <a:solidFill>
                  <a:srgbClr val="5F6973"/>
                </a:solidFill>
                <a:latin typeface="Arial"/>
                <a:ea typeface="Arial"/>
                <a:cs typeface="Arial"/>
                <a:sym typeface="Arial"/>
              </a:rPr>
              <a:t>• Proposed approach: MEDIXAI, an explainable and knowledge-base-driven medical expert system.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5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Users can search/select symptoms or answer dynamic follow-up questions driven by Backward Chaining.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AI engine combines Forward Chaining, Backward Chaining, First-Order Logic and Resolution.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Multiple possible diseases are ranked using a transparent Weighted Rule Confidence Score — not ML probability.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system shows rules fired, matched/missing symptoms, contradiction warnings and an explanation trace.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Admin tools can add diseases, symptoms, weights and rules without modifying the inference engine.</a:t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400800" y="1234440"/>
            <a:ext cx="4846320" cy="347472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Search / Select Symptoms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Knowledge Base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Inference Engine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Rule Confidence + Validation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Ranked Results + Explanation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 / Block Diagram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57200" y="2377440"/>
            <a:ext cx="1828800" cy="9144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Search / select symptoms</a:t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2560320" y="2377440"/>
            <a:ext cx="2011680" cy="9144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KNOWLEDGE BASE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Diseases • symptoms • rules • weights</a:t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4846320" y="2377440"/>
            <a:ext cx="2468880" cy="9144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INFERENCE ENGINE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Forward • Backward • FOL • Resolution</a:t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7589520" y="2377440"/>
            <a:ext cx="1737360" cy="9144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REASONING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Rule score + contradiction check</a:t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9601200" y="2377440"/>
            <a:ext cx="1828800" cy="9144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Ranked matches + explanation + report</a:t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550"/>
              <a:buFont typeface="Arial"/>
              <a:buNone/>
            </a:pPr>
            <a:r>
              <a:rPr b="0" lang="en-US" sz="1550">
                <a:solidFill>
                  <a:srgbClr val="5F6973"/>
                </a:solidFill>
                <a:latin typeface="Arial"/>
                <a:ea typeface="Arial"/>
                <a:cs typeface="Arial"/>
                <a:sym typeface="Arial"/>
              </a:rPr>
              <a:t>Workflow: the user provides symptoms; MEDIXAI retrieves relevant facts and rules, applies Classical-AI inference, calculates an explainable rule-match score, validates contradictions and returns ranked possible diseases with a reasoning trace.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2214423" y="2619250"/>
            <a:ext cx="457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D6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F3D6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4501025" y="2619250"/>
            <a:ext cx="327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D6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F3D6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7235105" y="2615175"/>
            <a:ext cx="327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D6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F3D6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9246775" y="2615175"/>
            <a:ext cx="327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D6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F3D6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640080" y="1234440"/>
            <a:ext cx="3337560" cy="12344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1. Knowledge Acquisition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Collect credible medical facts and define project scope</a:t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4434840" y="1234440"/>
            <a:ext cx="3337560" cy="12344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2. Knowledge Representation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Create disease/symptom IDs, categories and structured rules</a:t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8229600" y="1234440"/>
            <a:ext cx="3337560" cy="12344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3. Rule Engineering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Assign weights, required/optional symptoms and priorities</a:t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640080" y="3291840"/>
            <a:ext cx="3337560" cy="12344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4. Inference Engine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Implement Forward, Backward, FOL and Resolution</a:t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4434840" y="3291840"/>
            <a:ext cx="3337560" cy="12344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5. Explainability &amp; Evaluation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Trace rules; compare rules checked, time and consistency</a:t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8229600" y="3291840"/>
            <a:ext cx="3337560" cy="12344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6. Application &amp; Validation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4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Build UI, admin panel, history/report and test cases</a:t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729"/>
              <a:buFont typeface="Arial"/>
              <a:buNone/>
            </a:pPr>
            <a:r>
              <a:rPr b="0" lang="en-US" sz="1730">
                <a:solidFill>
                  <a:srgbClr val="5F6973"/>
                </a:solidFill>
                <a:latin typeface="Arial"/>
                <a:ea typeface="Arial"/>
                <a:cs typeface="Arial"/>
                <a:sym typeface="Arial"/>
              </a:rPr>
              <a:t>Programming Language: Python 3.12+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73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Interface: Tkinter for the first desktop version; optional Flask/HTML/CSS/JavaScript extension later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3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/ Knowledge Store: SQLite / JSON for diseases, symptoms, rules, weights, history and reports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3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Techniques: Forward Chaining, Backward Chaining, First-Order Logic, Resolution and weighted rule scoring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3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/ IDE: Visual Studio Code, GitHub, diagrams.net (Draw.io)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3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Hardware: Standard laptop; 4 GB RAM minimum, 8 GB recommended</a:t>
            </a:r>
            <a:endParaRPr/>
          </a:p>
        </p:txBody>
      </p:sp>
      <p:sp>
        <p:nvSpPr>
          <p:cNvPr id="267" name="Google Shape;267;p11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Description</a:t>
            </a:r>
            <a:endParaRPr/>
          </a:p>
        </p:txBody>
      </p:sp>
      <p:sp>
        <p:nvSpPr>
          <p:cNvPr id="274" name="Google Shape;274;p12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731520" y="1097280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Module 1 – User &amp; Symptom Entry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Login/guest mode, search symptoms and smart questioning</a:t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6309359" y="1097280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Module 2 –</a:t>
            </a:r>
            <a:r>
              <a:rPr b="1" lang="en-US" sz="1100">
                <a:solidFill>
                  <a:srgbClr val="1F3A56"/>
                </a:solidFill>
              </a:rPr>
              <a:t> Medical Data Store &amp; Rule Repository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Manage diseases, symptoms, weights, rules and categories</a:t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731520" y="2606039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Module 3 –</a:t>
            </a:r>
            <a:r>
              <a:rPr b="1" lang="en-US" sz="1100">
                <a:solidFill>
                  <a:srgbClr val="1F3A56"/>
                </a:solidFill>
              </a:rPr>
              <a:t> Classical Reasoning &amp; Proof Engine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Forward/Backward Chaining, FOL and Resolution</a:t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6309359" y="2606039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Module 4 – Explainability &amp; Scoring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Rank results; show rules fired, matched/missing symptoms and warnings</a:t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731520" y="4114800"/>
            <a:ext cx="5029200" cy="10058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Module 5 – History &amp; Reporting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Store sessions and generate an explainable summary/report</a:t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Preliminary / Expected Results</a:t>
            </a:r>
            <a:endParaRPr/>
          </a:p>
        </p:txBody>
      </p:sp>
      <p:sp>
        <p:nvSpPr>
          <p:cNvPr id="287" name="Google Shape;287;p13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640080" y="1143000"/>
            <a:ext cx="5303520" cy="42062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330"/>
              <a:buFont typeface="Arial"/>
              <a:buNone/>
            </a:pPr>
            <a:r>
              <a:rPr b="1" lang="en-US" sz="133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Expected Functional Outcomes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30">
              <a:solidFill>
                <a:srgbClr val="1F3A5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• Ranked possible diseases using Rule Confidence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• Explainable reasoning trace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• Contradictory-input warning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• Extensible knowledge base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• Comparison of inference efficiency</a:t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6263640" y="1143000"/>
            <a:ext cx="5303520" cy="420624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 cap="flat" cmpd="sng" w="9525">
            <a:solidFill>
              <a:srgbClr val="96B4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56"/>
              </a:buClr>
              <a:buSzPts val="1280"/>
              <a:buFont typeface="Arial"/>
              <a:buNone/>
            </a:pPr>
            <a:r>
              <a:rPr b="1" lang="en-US" sz="128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Illustrative MEDIXAI Output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0">
              <a:solidFill>
                <a:srgbClr val="1F3A5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Symptoms: Fever • Cough • Sneezing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Possible match 1: Common Cold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Rule Confidence: illustrative score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Why? Shows rules fired + matched/missing facts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80">
              <a:solidFill>
                <a:srgbClr val="1F3A5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0">
                <a:solidFill>
                  <a:srgbClr val="1F3A56"/>
                </a:solidFill>
                <a:latin typeface="Arial"/>
                <a:ea typeface="Arial"/>
                <a:cs typeface="Arial"/>
                <a:sym typeface="Arial"/>
              </a:rPr>
              <a:t>Educational prototype — not a clinical diagnosis</a:t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Schedule</a:t>
            </a:r>
            <a:endParaRPr/>
          </a:p>
        </p:txBody>
      </p:sp>
      <p:sp>
        <p:nvSpPr>
          <p:cNvPr id="297" name="Google Shape;297;p14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graphicFrame>
        <p:nvGraphicFramePr>
          <p:cNvPr id="298" name="Google Shape;298;p14"/>
          <p:cNvGraphicFramePr/>
          <p:nvPr/>
        </p:nvGraphicFramePr>
        <p:xfrm>
          <a:off x="594360" y="114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{9245F06F-716C-4071-8184-3D2FD055E739}</a:tableStyleId>
              </a:tblPr>
              <a:tblGrid>
                <a:gridCol w="2194550"/>
                <a:gridCol w="2194550"/>
                <a:gridCol w="2194550"/>
                <a:gridCol w="2194550"/>
                <a:gridCol w="2194550"/>
              </a:tblGrid>
              <a:tr h="746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8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8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 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8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 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8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8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 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F3756"/>
                    </a:solidFill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Literature Survey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 Identification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Base &amp; System Design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Implementation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746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Testing &amp; Evaluation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40" u="none" cap="none" strike="noStrike">
                          <a:solidFill>
                            <a:srgbClr val="28323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99" name="Google Shape;299;p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Progress</a:t>
            </a:r>
            <a:endParaRPr/>
          </a:p>
        </p:txBody>
      </p:sp>
      <p:sp>
        <p:nvSpPr>
          <p:cNvPr id="306" name="Google Shape;306;p15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307" name="Google Shape;307;p15"/>
          <p:cNvSpPr txBox="1"/>
          <p:nvPr/>
        </p:nvSpPr>
        <p:spPr>
          <a:xfrm>
            <a:off x="822960" y="1143000"/>
            <a:ext cx="105156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5F6973"/>
                </a:solidFill>
                <a:latin typeface="Arial"/>
                <a:ea typeface="Arial"/>
                <a:cs typeface="Arial"/>
                <a:sym typeface="Arial"/>
              </a:rPr>
              <a:t>✓ Literature survey and problem identification completed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Project scope frozen as Classical AI only — no ML/DL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Core requirements, novelty and system architecture defined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✓ Initial disease categories and scalable knowledge-base structure drafted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◐ Master symptom dictionary and disease–symptom rule mapping in progress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☐ Inference engine and user interface implementation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☐ Testing, evaluation and final documentation</a:t>
            </a:r>
            <a:endParaRPr/>
          </a:p>
        </p:txBody>
      </p:sp>
      <p:sp>
        <p:nvSpPr>
          <p:cNvPr id="308" name="Google Shape;308;p1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</p:txBody>
      </p:sp>
      <p:sp>
        <p:nvSpPr>
          <p:cNvPr id="315" name="Google Shape;315;p16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16" name="Google Shape;316;p16"/>
          <p:cNvSpPr txBox="1"/>
          <p:nvPr/>
        </p:nvSpPr>
        <p:spPr>
          <a:xfrm>
            <a:off x="731520" y="11430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80">
                <a:solidFill>
                  <a:srgbClr val="5F6973"/>
                </a:solidFill>
                <a:latin typeface="Arial"/>
                <a:ea typeface="Arial"/>
                <a:cs typeface="Arial"/>
                <a:sym typeface="Arial"/>
              </a:rPr>
              <a:t>• Complete the master symptom dictionary with standardized IDs and categories.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68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Build the initial 30–40 disease knowledge base with symptom weights, required/optional flags, rules and severity metadata.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8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Implement Forward Chaining, Backward Chaining, First-Order Logic and Resolution modules.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8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Add Weighted Rule Confidence, contradiction detection and dynamic follow-up questioning.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8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Build the MEDIXAI desktop UI, admin knowledge-base builder, history and report features.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8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Evaluate reasoning methods using execution time, rules checked, consistency and explainability; validate medical content against credible references/domain guidance.</a:t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324" name="Google Shape;324;p17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325" name="Google Shape;325;p17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39">
                <a:solidFill>
                  <a:srgbClr val="5F6973"/>
                </a:solidFill>
                <a:latin typeface="Arial"/>
                <a:ea typeface="Arial"/>
                <a:cs typeface="Arial"/>
                <a:sym typeface="Arial"/>
              </a:rPr>
              <a:t>• MEDIXAI applies Classical Artificial Intelligence to an explainable medical expert-system problem without Machine Learning or Deep Learning.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73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Its main contribution is transparent multi-strategy reasoning: Forward Chaining, Backward Chaining, First-Order Logic and Resolution.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3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database-driven knowledge base and admin tools make the system extensible without changing the inference engine.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3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Weighted rule scoring, contradiction detection and reasoning traces are expected to make results easier to inspect and compare.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3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project is an educational decision-support prototype and is not intended to replace professional medical diagnosis.</a:t>
            </a:r>
            <a:endParaRPr/>
          </a:p>
        </p:txBody>
      </p:sp>
      <p:sp>
        <p:nvSpPr>
          <p:cNvPr id="326" name="Google Shape;326;p1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8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37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 txBox="1"/>
          <p:nvPr/>
        </p:nvSpPr>
        <p:spPr>
          <a:xfrm>
            <a:off x="502920" y="118872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11292840" y="137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334" name="Google Shape;334;p18"/>
          <p:cNvSpPr txBox="1"/>
          <p:nvPr/>
        </p:nvSpPr>
        <p:spPr>
          <a:xfrm>
            <a:off x="731520" y="1143000"/>
            <a:ext cx="1051560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973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5F6973"/>
                </a:solidFill>
                <a:latin typeface="Arial"/>
                <a:ea typeface="Arial"/>
                <a:cs typeface="Arial"/>
                <a:sym typeface="Arial"/>
              </a:rPr>
              <a:t>Journal / Book References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1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[1] Shortliffe, E. H. (1976). Computer-Based Medical Consultations: MYCIN. Elsevier Science.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[2] Mustafa, E. M., Saad, M. M., &amp; Rizkallah, L. W. (2023). Building an enhanced case-based reasoning and rule-based systems for medical diagnosis. Journal of Engineering and Applied Science, 70, 139. DOI: 10.1186/s44147-023-00315-4.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[3] Atim, S. B., &amp; Ibrahim, M. Y. I. (2025). Rule-based expert system model with backward chaining algorithm for symptom-based skin disease diagnosis. Jurnal Teknologi dan Open Source, 8(1). DOI: 10.36378/jtos.v8i1.4416.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Website References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[4] Python Software Foundation — Python Documentation: docs.python.org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[5] SQLite Consortium — SQLite Documentation: sqlite.org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4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[6] World Health Organization — who.int</a:t>
            </a:r>
            <a:endParaRPr/>
          </a:p>
        </p:txBody>
      </p:sp>
      <p:sp>
        <p:nvSpPr>
          <p:cNvPr id="335" name="Google Shape;335;p1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Department of Cyber Security  |  Project Review – 1  |  2026-2027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D60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1F3D6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 &amp; Suggestions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Explainable AI-Based Medical Expert System Using Rule-Based Reasoning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MEDIXAI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HP</dc:creator>
</cp:coreProperties>
</file>