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identity and academic year: first_review_ppt.pptx,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abstract synthesized from first_review_ppt.pptx, slides 2, 5, 8, 11, 12 and 17. Proposed capabilities do not establish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https://www.shortliffe.net/Shortliffe-1976/MYCIN%20thesis%20Book.htm</a:t>
            </a:r>
          </a:p>
          <a:p>
            <a:r>
              <a:t>https://doi.org/10.1186/s44147-023-00315-4</a:t>
            </a:r>
          </a:p>
          <a:p>
            <a:r>
              <a:t>https://doi.org/10.36378/jtos.v8i1.4416</a:t>
            </a:r>
          </a:p>
          <a:p>
            <a:r>
              <a:t>Limitations for the Mustafa paper describe the difference in project scope, not an assertion that the study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https://www.ijmlc.org/vol5/492-A14.pdf</a:t>
            </a:r>
          </a:p>
          <a:p>
            <a:r>
              <a:t>https://doi.org/10.1007/s12553-022-00672-9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gap is a project-level synthesis of references on slides 5–6. No claim that the proposed combination is globally novel. Progress source: first_review_ppt.pptx, slide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Proposed design based on first_review_ppt.pptx, slides 8–9 and 12. Components are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Proposed Level 0 DFD synthesized from first_review_ppt.pptx, slides 8, 9 and 12. External entities: User and Administrator. Process: MEDIXAI. Data store: knowledge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Proposed workflows based on first_review_ppt.pptx, slides 8 and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first_review_ppt.pptx, relevant requirements, technology, module, expected-result and progress slides. Proposed design and earlier progress do not establish later implementation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 based on first_review_ppt.pptx, slide 17. No clinical performance or later implementation completion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 work and disease-count target: first_review_ppt.pptx, slide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 URLs: https://www.shortliffe.net/Shortliffe-1976/MYCIN%20thesis%20Book.htm</a:t>
            </a:r>
          </a:p>
          <a:p>
            <a:r>
              <a:t>https://doi.org/10.1186/s44147-023-00315-4</a:t>
            </a:r>
          </a:p>
          <a:p>
            <a:r>
              <a:t>https://doi.org/10.36378/jtos.v8i1.4416</a:t>
            </a:r>
          </a:p>
          <a:p>
            <a:r>
              <a:t>https://www.ijmlc.org/vol5/492-A14.pdf</a:t>
            </a:r>
          </a:p>
          <a:p>
            <a:r>
              <a:t>https://doi.org/10.1007/s12553-022-00672-9</a:t>
            </a:r>
          </a:p>
          <a:p>
            <a:r>
              <a:t>https://docs.python.org/</a:t>
            </a:r>
          </a:p>
          <a:p>
            <a:r>
              <a:t>https://www.sqlite.org/docs.html</a:t>
            </a:r>
          </a:p>
          <a:p>
            <a:r>
              <a:t>Full citations:</a:t>
            </a:r>
          </a:p>
          <a:p>
            <a:r>
              <a:t>[1] Shortliffe, E. H. (1976). Computer-Based Medical Consultations: MYCIN. Elsevier.</a:t>
            </a:r>
          </a:p>
          <a:p>
            <a:r>
              <a:t>[2] Mustafa, E. M., Saad, M. M., &amp; Rizkallah, L. W. (2023). Building an enhanced case-based reasoning and rule-based systems for medical diagnosis. Journal of Engineering and Applied Science, 70, 139. doi:10.1186/s44147-023-00315-4.</a:t>
            </a:r>
          </a:p>
          <a:p>
            <a:r>
              <a:t>[3] Atim, S. B., &amp; Ibrahim, M. Y. I. (2025). Rule-Based Expert System Model with Backward Chaining Algorithm for Symptom-Based Skin Disease Diagnosis. Jurnal Teknologi dan Open Source, 8(1), 288–294. doi:10.36378/jtos.v8i1.4416.</a:t>
            </a:r>
          </a:p>
          <a:p>
            <a:r>
              <a:t>[4] Al-Ajlan, A. (2015). The Comparison between Forward and Backward Chaining. International Journal of Machine Learning and Computing, 5(2), 106–113. doi:10.7763/IJMLC.2015.V5.492.</a:t>
            </a:r>
          </a:p>
          <a:p>
            <a:r>
              <a:t>[5] Papadopoulos, P., et al. (2022). A systematic review of technologies and standards used in the development of rule-based clinical decision support systems. Health and Technology, 12, 713–727. doi:10.1007/s12553-022-00672-9.</a:t>
            </a:r>
          </a:p>
          <a:p>
            <a:r>
              <a:t>[6] Python Software Foundation. Python Documentation. https://docs.python.org/</a:t>
            </a:r>
          </a:p>
          <a:p>
            <a:r>
              <a:t>[7] SQLite. SQLite Documentation. https://www.sqlite.org/docs.html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>
            <a:spLocks noGrp="1"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MEDIXAI</a:t>
            </a:r>
          </a:p>
          <a:p>
            <a: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Explainable AI-Based Medical Expert System</a:t>
            </a:r>
          </a:p>
          <a:p>
            <a:pPr algn="ctr">
              <a:defRPr sz="2400" b="1">
                <a:solidFill>
                  <a:srgbClr val="7030A0"/>
                </a:solidFill>
                <a:latin typeface="Verdana"/>
                <a:ea typeface="Verdana"/>
                <a:cs typeface="Verdana"/>
              </a:defRPr>
            </a:pPr>
            <a:r>
              <a:rPr sz="2400" b="1">
                <a:solidFill>
                  <a:srgbClr val="7030A0"/>
                </a:solidFill>
                <a:latin typeface="Verdana"/>
                <a:ea typeface="Verdana"/>
                <a:cs typeface="Verdana"/>
              </a:rPr>
              <a:t>Using Rule-Based Reasoning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>
            <a:spLocks noGrp="1"/>
          </p:cNvSpPr>
          <p:nvPr/>
        </p:nvSpPr>
        <p:spPr>
          <a:xfrm>
            <a:off x="962889" y="5183902"/>
            <a:ext cx="3429000" cy="960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defPPr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sz="1900" b="1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Supervisor</a:t>
            </a: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lang="en-IN" sz="1900" b="1" dirty="0" err="1">
                <a:solidFill>
                  <a:srgbClr val="FF0000"/>
                </a:solidFill>
              </a:rPr>
              <a:t>Dr.</a:t>
            </a:r>
            <a:r>
              <a:rPr lang="en-IN" sz="1900" b="1" dirty="0">
                <a:solidFill>
                  <a:srgbClr val="FF0000"/>
                </a:solidFill>
              </a:rPr>
              <a:t> </a:t>
            </a:r>
            <a:r>
              <a:rPr lang="en-IN" sz="1900" b="1" dirty="0" err="1">
                <a:solidFill>
                  <a:srgbClr val="FF0000"/>
                </a:solidFill>
              </a:rPr>
              <a:t>Bhuvana</a:t>
            </a:r>
            <a:r>
              <a:rPr lang="en-IN" sz="1900" b="1" dirty="0">
                <a:solidFill>
                  <a:srgbClr val="FF0000"/>
                </a:solidFill>
              </a:rPr>
              <a:t> S</a:t>
            </a:r>
            <a:endParaRPr sz="1900" b="1" dirty="0">
              <a:solidFill>
                <a:srgbClr val="FF000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>
            <a:spLocks noGrp="1"/>
          </p:cNvSpPr>
          <p:nvPr/>
        </p:nvSpPr>
        <p:spPr>
          <a:xfrm>
            <a:off x="6734175" y="5183902"/>
            <a:ext cx="5105400" cy="960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defPPr>
            <a:lvl1pPr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3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6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o"/>
              <a:defRPr sz="23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/>
              <a:buChar char="n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/>
              <a:buChar char="§"/>
              <a:defRPr sz="2000">
                <a:solidFill>
                  <a:schemeClr val="tx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sz="1900" b="1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Presented by</a:t>
            </a: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lang="en-IN" sz="1900" b="1" dirty="0">
                <a:solidFill>
                  <a:srgbClr val="FF0000"/>
                </a:solidFill>
              </a:rPr>
              <a:t>Naveen Raj P 	       241901070</a:t>
            </a: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/>
                <a:ea typeface="Verdana"/>
                <a:cs typeface="Verdana"/>
              </a:defRPr>
            </a:pPr>
            <a:r>
              <a:rPr lang="en-IN" sz="1900" b="1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Nishanth </a:t>
            </a:r>
            <a:r>
              <a:rPr lang="en-IN" sz="1900" b="1" dirty="0" err="1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Elango</a:t>
            </a:r>
            <a:r>
              <a:rPr lang="en-IN" sz="1900" b="1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 Rajan   241901075</a:t>
            </a:r>
            <a:endParaRPr sz="1900" b="1" dirty="0">
              <a:solidFill>
                <a:srgbClr val="FF000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>
            <a:spLocks noGrp="1"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anchor="ctr">
            <a:normAutofit fontScale="92500" lnSpcReduction="20000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 b="1">
                <a:solidFill>
                  <a:srgbClr val="002060"/>
                </a:solidFill>
                <a:latin typeface="Verdana"/>
                <a:ea typeface="Verdana"/>
                <a:cs typeface="Verdana"/>
              </a:rPr>
              <a:t>Department of Computer Science and Engineering</a:t>
            </a:r>
          </a:p>
          <a:p>
            <a:r>
              <a:rPr sz="2800" b="1">
                <a:solidFill>
                  <a:srgbClr val="002060"/>
                </a:solidFill>
                <a:latin typeface="Verdana"/>
                <a:ea typeface="Verdana"/>
                <a:cs typeface="Verdana"/>
              </a:rPr>
              <a:t>(Cyber Security)</a:t>
            </a:r>
          </a:p>
          <a:p>
            <a:endParaRPr sz="2800" b="1">
              <a:solidFill>
                <a:srgbClr val="002060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EF87E3-AC2F-4A82-832A-2E0E1A8821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2933065" cy="980728"/>
          </a:xfrm>
          <a:prstGeom prst="rect">
            <a:avLst/>
          </a:prstGeom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0918BB2-8799-4861-9D8C-C2B23D69138B}"/>
              </a:ext>
            </a:extLst>
          </p:cNvPr>
          <p:cNvSpPr>
            <a:spLocks noGrp="1"/>
          </p:cNvSpPr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Verdana"/>
                <a:ea typeface="Verdana"/>
                <a:cs typeface="Verdana"/>
              </a:rPr>
              <a:t>CS23533– Foundations of Artificial Intelligence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3B9BCD-A40A-4FED-A9A9-5443E4BAE353}"/>
              </a:ext>
            </a:extLst>
          </p:cNvPr>
          <p:cNvSpPr>
            <a:spLocks noGrp="1"/>
          </p:cNvSpPr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b="1">
                <a:solidFill>
                  <a:srgbClr val="002060"/>
                </a:solidFill>
                <a:latin typeface="Verdana"/>
                <a:ea typeface="Verdana"/>
                <a:cs typeface="Verdana"/>
              </a:rPr>
              <a:t>2026-2027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Problem Statement and Motivation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MEDIXAI addresses symptom-checking systems that provide limited reasoning explanations.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Fixed rule bases can be difficult to extend and may overlook contradictory symptom inputs.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project supports students learning knowledge representation and expert-system reasoning.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Explicit rules, reasoning traces and an editable knowledge base make each suggested result easier to inspect.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Objectives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Represent knowledge using structured facts, IF–THEN rules and First-Order Logic.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 Forward Chaining and Backward Chaining for rule-based inference.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Resolution to check logical consistency and contradictory facts.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Rank possible diseases with weighted rules and explain matched or missing symptoms.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Compare rules checked, execution time and result consistency across inference strategies.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Abstract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MEDIXAI is a proposed explainable medical expert system based on Classical Artificial Intelligence. Users select symptoms, and a structured knowledge base supplies disease facts, IF–THEN rules and symptom weights.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Forward and Backward Chaining support inference. First-Order Logic represents knowledge, while Resolution checks logical consistency. Weighted rule scores rank possible matches, and an explanation trace shows rules fired and matched or missing facts.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planned Python desktop application uses Tkinter and SQLite / JSON, with knowledge maintenance, history and reports. Evaluation will compare execution time, rules checked and consistency. The project supports education and does not replace clinical diagnosis.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</a:pPr>
            <a:br>
              <a: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Verdana"/>
                <a:ea typeface="Verdana"/>
                <a:cs typeface="Verdana"/>
              </a:rPr>
            </a:br>
            <a:endParaRPr sz="2800" b="0" i="0" u="none" strike="noStrike" kern="0" cap="none" spc="0" baseline="0">
              <a:ln>
                <a:noFill/>
              </a:ln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marL="0" indent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5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6CD6C2-0A2E-4570-ABFD-9A02D9453EC5}"/>
              </a:ext>
            </a:extLst>
          </p:cNvPr>
          <p:cNvGraphicFramePr/>
          <p:nvPr/>
        </p:nvGraphicFramePr>
        <p:xfrm>
          <a:off x="623392" y="1752600"/>
          <a:ext cx="11089196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0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E. H. Shortliffe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(1976)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Computer-Based Medical Consultations: MYCIN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Medical rules, consultation and explanation system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Focused infection domain. Expert knowledge requires manual acquisition.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Mustafa, Saad &amp; Rizkallah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(2023)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Building an enhanced case-based reasoning and rule-based systems for medical diagnosis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Case similarity and IF–THEN rules extracted from decision trees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Uses learned similarity or rules. MEDIXAI targets explicitly authored classical rules.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Atim &amp; Ibrahim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(2025)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Rule-Based Expert System Model with Backward Chaining Algorithm for Symptom-Based Skin Disease Diagnosis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Goal-driven backward chaining for skin disease symptoms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Partial or overlapping symptoms need more specific rules or certainty handling.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</a:pPr>
            <a:br>
              <a: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Verdana"/>
                <a:ea typeface="Verdana"/>
                <a:cs typeface="Verdana"/>
              </a:rPr>
            </a:br>
            <a:endParaRPr sz="2800" b="0" i="0" u="none" strike="noStrike" kern="0" cap="none" spc="0" baseline="0">
              <a:ln>
                <a:noFill/>
              </a:ln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  <a:p>
            <a:pPr marL="0" indent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6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61FDFD-3588-4DE4-85FD-84AE2837C517}"/>
              </a:ext>
            </a:extLst>
          </p:cNvPr>
          <p:cNvGraphicFramePr/>
          <p:nvPr/>
        </p:nvGraphicFramePr>
        <p:xfrm>
          <a:off x="983432" y="1746251"/>
          <a:ext cx="10748296" cy="400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77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Al-Ajlan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(2015)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The Comparison between Forward and Backward Chaining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Compares data-driven and goal-driven reasoning for academic expert systems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Academic management context. Medical applicability needs separate evaluation.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  <a:endParaRPr sz="180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Papadopoulos et al.</a:t>
                      </a:r>
                    </a:p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(2022)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A systematic review of technologies and standards used in the development of rule-based clinical decision support systems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Reviews rule engines, standards and knowledge representation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00" b="0">
                          <a:solidFill>
                            <a:srgbClr val="303744"/>
                          </a:solidFill>
                          <a:latin typeface="Aptos"/>
                          <a:ea typeface="Aptos"/>
                          <a:cs typeface="Aptos"/>
                        </a:rPr>
                        <a:t>Integration and interoperability remain challenges across heterogeneous systems.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Research Gap/Existing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7</a:t>
            </a:fld>
            <a:endParaRPr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0"/>
            <a:ext cx="5052318" cy="1216025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1. What existing studies do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Explicit rules can support explainable consultation. Chaining strategies serve different goals.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>
            <a:spLocks noGrp="1"/>
          </p:cNvSpPr>
          <p:nvPr/>
        </p:nvSpPr>
        <p:spPr>
          <a:xfrm>
            <a:off x="6096000" y="1752600"/>
            <a:ext cx="5452872" cy="1216024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2. Limitations observed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Reviewed systems vary in scope. Partial symptoms and knowledge maintenance remain challenges.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>
            <a:spLocks noGrp="1"/>
          </p:cNvSpPr>
          <p:nvPr/>
        </p:nvSpPr>
        <p:spPr>
          <a:xfrm>
            <a:off x="766233" y="3645024"/>
            <a:ext cx="5177367" cy="1584176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3. Research gap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A single educational prototype should compare chaining methods, expose rule scores and check contradictions.</a:t>
            </a: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>
            <a:spLocks noGrp="1"/>
          </p:cNvSpPr>
          <p:nvPr/>
        </p:nvSpPr>
        <p:spPr>
          <a:xfrm>
            <a:off x="6199632" y="3794760"/>
            <a:ext cx="5349240" cy="143444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def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4. How our project responds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736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65D"/>
                </a:solidFill>
                <a:latin typeface="Aptos"/>
                <a:ea typeface="Aptos"/>
                <a:cs typeface="Aptos"/>
              </a:rPr>
              <a:t>MEDIXAI proposes multi-strategy reasoning, transparent rule scores and consistency checks in one educational system.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379249-BABF-431A-8FE3-C06C4D68C04F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191500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351BFC-CDF4-49A4-9B4B-C0CC9A3F1E0B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429250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F5AD54-25AD-417A-BF5D-EF64094124D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809875" y="3405188"/>
            <a:ext cx="3333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Proposed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8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334106-8747-4BD5-BB61-7052C5C1A621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Proposed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96D0D6-F2CD-4E17-A1DC-97167BA0C263}"/>
              </a:ext>
            </a:extLst>
          </p:cNvPr>
          <p:cNvSpPr>
            <a:spLocks noGrp="1"/>
          </p:cNvSpPr>
          <p:nvPr/>
        </p:nvSpPr>
        <p:spPr>
          <a:xfrm>
            <a:off x="809625" y="2714625"/>
            <a:ext cx="200025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User interface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Symptom search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follow-up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307BFE-475D-4920-BE99-76F24345070C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228600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Knowledge base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Diseases, facts,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rules and weights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3454F4-A713-4788-A27C-6E2FE779B724}"/>
              </a:ext>
            </a:extLst>
          </p:cNvPr>
          <p:cNvSpPr>
            <a:spLocks noGrp="1"/>
          </p:cNvSpPr>
          <p:nvPr/>
        </p:nvSpPr>
        <p:spPr>
          <a:xfrm>
            <a:off x="5762625" y="2714625"/>
            <a:ext cx="2428875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Inference engine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Forward / Backward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FOL / Resolution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6174C-430D-4B20-A583-DE2C1A6231BA}"/>
              </a:ext>
            </a:extLst>
          </p:cNvPr>
          <p:cNvSpPr>
            <a:spLocks noGrp="1"/>
          </p:cNvSpPr>
          <p:nvPr/>
        </p:nvSpPr>
        <p:spPr>
          <a:xfrm>
            <a:off x="8524875" y="2714625"/>
            <a:ext cx="2762250" cy="1381125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Output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Ranked matches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explanations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0E0F25-1822-4405-8D06-D09C3355C952}"/>
              </a:ext>
            </a:extLst>
          </p:cNvPr>
          <p:cNvSpPr>
            <a:spLocks noGrp="1"/>
          </p:cNvSpPr>
          <p:nvPr/>
        </p:nvSpPr>
        <p:spPr>
          <a:xfrm>
            <a:off x="809625" y="4524375"/>
            <a:ext cx="10572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Scoring and consistency checks link the inference trace to each result.</a:t>
            </a:r>
          </a:p>
          <a:p>
            <a:pPr algn="l">
              <a:defRPr sz="21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Admin tools maintain knowledge. History stores sessions and reports.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FEFD69-EA9A-48B9-B159-85015D84A078}"/>
              </a:ext>
            </a:extLst>
          </p:cNvPr>
          <p:cNvCxnSpPr>
            <a:stCxn id="9" idx="4"/>
            <a:endCxn id="11" idx="0"/>
          </p:cNvCxnSpPr>
          <p:nvPr/>
        </p:nvCxnSpPr>
        <p:spPr>
          <a:xfrm flipH="1">
            <a:off x="6262688" y="4595813"/>
            <a:ext cx="23813" cy="500062"/>
          </a:xfrm>
          <a:prstGeom prst="straightConnector1">
            <a:avLst/>
          </a:prstGeom>
          <a:ln w="19050">
            <a:solidFill>
              <a:srgbClr val="203864"/>
            </a:solidFill>
            <a:headEnd type="triangle" w="sm" len="sm"/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FE6F52-8948-4ED0-8A42-CFE3A79D5CF9}"/>
              </a:ext>
            </a:extLst>
          </p:cNvPr>
          <p:cNvCxnSpPr>
            <a:stCxn id="10" idx="1"/>
            <a:endCxn id="9" idx="6"/>
          </p:cNvCxnSpPr>
          <p:nvPr/>
        </p:nvCxnSpPr>
        <p:spPr>
          <a:xfrm flipH="1">
            <a:off x="7667625" y="3714750"/>
            <a:ext cx="214312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04FFF1-8B9E-4123-B540-70025CC6895B}"/>
              </a:ext>
            </a:extLst>
          </p:cNvPr>
          <p:cNvCxnSpPr>
            <a:stCxn id="9" idx="2"/>
            <a:endCxn id="8" idx="3"/>
          </p:cNvCxnSpPr>
          <p:nvPr/>
        </p:nvCxnSpPr>
        <p:spPr>
          <a:xfrm flipH="1" flipV="1">
            <a:off x="2428875" y="3714750"/>
            <a:ext cx="2476500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92488F-35BF-4DB1-B5B5-69079C9634C0}"/>
              </a:ext>
            </a:extLst>
          </p:cNvPr>
          <p:cNvCxnSpPr>
            <a:stCxn id="8" idx="3"/>
            <a:endCxn id="9" idx="2"/>
          </p:cNvCxnSpPr>
          <p:nvPr/>
        </p:nvCxnSpPr>
        <p:spPr>
          <a:xfrm>
            <a:off x="2428875" y="3714750"/>
            <a:ext cx="2476500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DFD Diagram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9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712DD4-8DED-46C7-A358-556FF9C8F694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Level 0 context diagram (proposed)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F7F381-3DC8-47E1-9FC9-4BC1F0C64986}"/>
              </a:ext>
            </a:extLst>
          </p:cNvPr>
          <p:cNvSpPr>
            <a:spLocks noGrp="1"/>
          </p:cNvSpPr>
          <p:nvPr/>
        </p:nvSpPr>
        <p:spPr>
          <a:xfrm>
            <a:off x="809625" y="3286125"/>
            <a:ext cx="1619250" cy="85725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User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F55522-1660-4C1D-95DB-0A999936672C}"/>
              </a:ext>
            </a:extLst>
          </p:cNvPr>
          <p:cNvSpPr>
            <a:spLocks noGrp="1"/>
          </p:cNvSpPr>
          <p:nvPr/>
        </p:nvSpPr>
        <p:spPr>
          <a:xfrm>
            <a:off x="4905375" y="2833688"/>
            <a:ext cx="2762250" cy="1762125"/>
          </a:xfrm>
          <a:prstGeom prst="ellipse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0. MEDIXAI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Reasoning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explanation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9CE11-FD96-4D7A-BBE4-E6EE00C1244E}"/>
              </a:ext>
            </a:extLst>
          </p:cNvPr>
          <p:cNvSpPr>
            <a:spLocks noGrp="1"/>
          </p:cNvSpPr>
          <p:nvPr/>
        </p:nvSpPr>
        <p:spPr>
          <a:xfrm>
            <a:off x="9810750" y="3286125"/>
            <a:ext cx="1714500" cy="85725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Administrator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B15A8-DA2C-4638-B929-3C9DB29EA3A5}"/>
              </a:ext>
            </a:extLst>
          </p:cNvPr>
          <p:cNvSpPr>
            <a:spLocks noGrp="1"/>
          </p:cNvSpPr>
          <p:nvPr/>
        </p:nvSpPr>
        <p:spPr>
          <a:xfrm>
            <a:off x="3810000" y="5095875"/>
            <a:ext cx="4905375" cy="7620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D1 Knowledge base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Symptoms, diseases, rules and weights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9DD5C2-D321-4EE9-A88D-D55C60A8344B}"/>
              </a:ext>
            </a:extLst>
          </p:cNvPr>
          <p:cNvSpPr>
            <a:spLocks noGrp="1"/>
          </p:cNvSpPr>
          <p:nvPr/>
        </p:nvSpPr>
        <p:spPr>
          <a:xfrm>
            <a:off x="2571750" y="28575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Symptoms / answers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623916-25CC-47B4-A416-D565FAE5D7AD}"/>
              </a:ext>
            </a:extLst>
          </p:cNvPr>
          <p:cNvSpPr>
            <a:spLocks noGrp="1"/>
          </p:cNvSpPr>
          <p:nvPr/>
        </p:nvSpPr>
        <p:spPr>
          <a:xfrm>
            <a:off x="2524125" y="4171950"/>
            <a:ext cx="23336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Matches / trace / report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82FDD8-B487-4062-A468-15EE1A3E2E71}"/>
              </a:ext>
            </a:extLst>
          </p:cNvPr>
          <p:cNvSpPr>
            <a:spLocks noGrp="1"/>
          </p:cNvSpPr>
          <p:nvPr/>
        </p:nvSpPr>
        <p:spPr>
          <a:xfrm>
            <a:off x="7905750" y="2857500"/>
            <a:ext cx="18573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Knowledge updates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3F4104-F1D5-4708-BA32-9DA9CA68E643}"/>
              </a:ext>
            </a:extLst>
          </p:cNvPr>
          <p:cNvSpPr>
            <a:spLocks noGrp="1"/>
          </p:cNvSpPr>
          <p:nvPr/>
        </p:nvSpPr>
        <p:spPr>
          <a:xfrm>
            <a:off x="6429375" y="457200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6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Facts and rules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1C474F-BC89-44E7-8B5E-6756483E6B5C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861060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2A511E-6DD4-40E7-A70E-00BB924ED37A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592455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24317F-727E-45F4-9333-EB0E7F97D118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3238500" y="4714875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FD6395-1C9E-4D2B-992B-A8C4BA33698F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61060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01DDE5-7577-4B3B-A95E-0E3EB2B87EE2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92455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EA9134-FE36-4D06-935D-9AF0B749EC49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238500" y="2762250"/>
            <a:ext cx="257175" cy="0"/>
          </a:xfrm>
          <a:prstGeom prst="straightConnector1">
            <a:avLst/>
          </a:prstGeom>
          <a:ln w="19050">
            <a:solidFill>
              <a:srgbClr val="203864"/>
            </a:solidFill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Methodology/Work Flow Diagram</a:t>
            </a:r>
            <a:endParaRPr sz="2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10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F510E-A89A-411A-8314-B4DEC5443E4E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Development workflow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A10999-66A9-4B9B-BDAD-A9D32A405054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Acquire and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validate knowledge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42BCD2-E9EC-47B9-820A-9B701464AD86}"/>
              </a:ext>
            </a:extLst>
          </p:cNvPr>
          <p:cNvSpPr>
            <a:spLocks noGrp="1"/>
          </p:cNvSpPr>
          <p:nvPr/>
        </p:nvSpPr>
        <p:spPr>
          <a:xfrm>
            <a:off x="349567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Standardize IDs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encode rules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42AA26-3633-4185-BE55-711A5AF96F97}"/>
              </a:ext>
            </a:extLst>
          </p:cNvPr>
          <p:cNvSpPr>
            <a:spLocks noGrp="1"/>
          </p:cNvSpPr>
          <p:nvPr/>
        </p:nvSpPr>
        <p:spPr>
          <a:xfrm>
            <a:off x="618172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Implement engines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integrate UI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FA0061-8ABC-40BE-91A3-5D2A405F3E08}"/>
              </a:ext>
            </a:extLst>
          </p:cNvPr>
          <p:cNvSpPr>
            <a:spLocks noGrp="1"/>
          </p:cNvSpPr>
          <p:nvPr/>
        </p:nvSpPr>
        <p:spPr>
          <a:xfrm>
            <a:off x="8867775" y="2286000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Test scenarios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compare methods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B72A60-6A7B-4B0D-B760-0D29E7712FC8}"/>
              </a:ext>
            </a:extLst>
          </p:cNvPr>
          <p:cNvSpPr>
            <a:spLocks noGrp="1"/>
          </p:cNvSpPr>
          <p:nvPr/>
        </p:nvSpPr>
        <p:spPr>
          <a:xfrm>
            <a:off x="809625" y="37147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900" b="1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1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Runtime workflow (proposed)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5522D5-969F-4EFE-81B0-D62BC7FD2E09}"/>
              </a:ext>
            </a:extLst>
          </p:cNvPr>
          <p:cNvSpPr>
            <a:spLocks noGrp="1"/>
          </p:cNvSpPr>
          <p:nvPr/>
        </p:nvSpPr>
        <p:spPr>
          <a:xfrm>
            <a:off x="80962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Select symptoms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validate facts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431173-AD88-4BFC-AC66-98070BC398EE}"/>
              </a:ext>
            </a:extLst>
          </p:cNvPr>
          <p:cNvSpPr>
            <a:spLocks noGrp="1"/>
          </p:cNvSpPr>
          <p:nvPr/>
        </p:nvSpPr>
        <p:spPr>
          <a:xfrm>
            <a:off x="349567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Retrieve rules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infer matches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77EC7F-2C16-4659-A516-210B7AF6DB0A}"/>
              </a:ext>
            </a:extLst>
          </p:cNvPr>
          <p:cNvSpPr>
            <a:spLocks noGrp="1"/>
          </p:cNvSpPr>
          <p:nvPr/>
        </p:nvSpPr>
        <p:spPr>
          <a:xfrm>
            <a:off x="618172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Check consistency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score rules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107453-12EC-4396-8E53-1BA99FDCD9FA}"/>
              </a:ext>
            </a:extLst>
          </p:cNvPr>
          <p:cNvSpPr>
            <a:spLocks noGrp="1"/>
          </p:cNvSpPr>
          <p:nvPr/>
        </p:nvSpPr>
        <p:spPr>
          <a:xfrm>
            <a:off x="8867775" y="4238625"/>
            <a:ext cx="2428875" cy="952500"/>
          </a:xfrm>
          <a:prstGeom prst="rect">
            <a:avLst/>
          </a:prstGeom>
          <a:solidFill>
            <a:srgbClr val="EAF2F8"/>
          </a:solidFill>
          <a:ln w="14288">
            <a:solidFill>
              <a:srgbClr val="203864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Rank results</a:t>
            </a:r>
          </a:p>
          <a:p>
            <a:pPr algn="ctr">
              <a:defRPr sz="180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80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and explain trace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4D4884-D8A9-4F51-B790-EE928443B58B}"/>
              </a:ext>
            </a:extLst>
          </p:cNvPr>
          <p:cNvSpPr>
            <a:spLocks noGrp="1"/>
          </p:cNvSpPr>
          <p:nvPr/>
        </p:nvSpPr>
        <p:spPr>
          <a:xfrm>
            <a:off x="809625" y="5495925"/>
            <a:ext cx="10572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Backward Chaining asks follow-up questions when required facts are missing.</a:t>
            </a:r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Python 3.12+ implements the rule engine and application logic.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Tkinter supports the planned desktop interface without a separate web server.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SQLite / JSON store diseases, symptoms, rules, weights and session history.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VS Code, GitHub and diagrams.net support development and design.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Standard laptop: 4 GB RAM minimum, 8 GB recommended. Knowledge comes from curated medical references.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List of Modules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1 – User and Symptom Entry: search, select symptoms and answer follow-up questions.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2 – Medical Data Store and Rule Repository: maintain diseases, facts, rules and weights.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3 – Classical Reasoning and Proof Engine: Forward / Backward Chaining, FOL and Resolution.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4 – Explainability and Scoring: rank matches and display the reasoning trace.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5 – History and Reporting: save sessions and generate explainable summaries.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Module Descriptions – 1 and 2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1 – User and Symptom Entry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Input: searched or selected symptoms. The planned Tkinter interface standardizes selections and returns symptom IDs for reasoning.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2 – Medical Data Store and Rule Repository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Input: curated disease knowledge. SQLite / JSON stores diseases, symptoms, weights and required / optional flags. Output: facts and rules for the inference engine.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1 status: UI pending, dictionary and rule mapping in progress. Updated implementation status: [confirm].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Module Descriptions – 3 to 5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3 – Classical Reasoning and Proof Engine: uses facts and rules to derive candidates, ask follow-up questions and check contradictions.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4 – Explainability and Scoring: uses inference traces and weights to rank matches and show matched / missing facts.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5 – History and Reporting: stores symptom inputs, results and explanations, then produces a session summary.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1 status: implementation pending or planned. Review 2 implementation and test evidence: [confirm].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Results &amp; Discussion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1 reported expected outcomes and an illustrative output. Measured implementation results remain unconfirmed.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Planned metrics: rules checked, execution time and consistency between inference methods.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Planned tests: valid symptoms, missing facts, contradictory inputs and unknown symptoms.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Baseline: a single inference strategy using the same knowledge base and test cases.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2 results: [add measured values, test outcomes and interpretation].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FF0000"/>
                </a:solidFill>
              </a:rPr>
              <a:t>User Interface/ Screenshots</a:t>
            </a:r>
            <a:endParaRPr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6B9F7-E796-4F54-83AC-54CFC2AB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Working application screenshots: [add verified screenshots].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Symptom-entry screen should demonstrate search, selection and follow-up questions.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Results screen should show ranked matches, rule scores and matched / missing symptoms.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Explanation view should display fired rules, consistency warnings and the reasoning trace.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1 placed user-interface implementation in the pending stage.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None/>
            </a:pPr>
            <a:r>
              <a:t>Second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BDC2143B-610F-499C-A392-DFFBE135A7B2}" type="slidenum"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Conclusion</a:t>
            </a:r>
            <a:endParaRPr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MEDIXAI applies Classical AI to explainable medical decision support without Machine Learning or Deep Learning.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proposed system combines Forward / Backward Chaining, First-Order Logic and Resolution.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separate knowledge base supports extension, while rule scores and reasoning traces make suggested matches easier to inspect.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Functional and comparative evaluation remains essential. The project is an educational prototype and does not replace professional diagnosis.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Complete standardized symptom IDs and the initial 30–40 disease knowledge base.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 and validate Forward / Backward Chaining, FOL and Resolution.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weighted rule scoring, contradiction warnings and dynamic follow-up questions.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Integrate the Tkinter UI, knowledge-base editor, history and report features.</a:t>
            </a: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/>
              <a:buChar char="□"/>
              <a:def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Compare inference methods using documented tests, review medical knowledge and complete the final demonstration.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t>19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0D461-2EF8-4F3D-B3B1-812926D0D77A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10572750" cy="423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[1] Shortliffe, E. H. (1976). Computer-Based Medical Consultations: MYCIN. Elsevier.</a:t>
            </a:r>
          </a:p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[2] Mustafa et al. (2023). doi:10.1186/s44147-023-00315-4.</a:t>
            </a:r>
          </a:p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[3] Atim &amp; Ibrahim (2025). doi:10.36378/jtos.v8i1.4416.</a:t>
            </a:r>
          </a:p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[4] Al-Ajlan, A. (2015). doi:10.7763/IJMLC.2015.V5.492.</a:t>
            </a:r>
          </a:p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[5] Papadopoulos et al. (2022). doi:10.1007/s12553-022-00672-9.</a:t>
            </a:r>
          </a:p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[6] Python Software Foundation. https://docs.python.org/</a:t>
            </a:r>
          </a:p>
          <a:p>
            <a:pPr algn="l">
              <a:def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[7] SQLite Documentation. https://www.sqlite.org/docs.html</a:t>
            </a:r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>
              <a:buNone/>
            </a:pPr>
            <a:r>
              <a:rPr sz="4000" b="1">
                <a:solidFill>
                  <a:srgbClr val="FF0000"/>
                </a:solidFill>
              </a:rPr>
              <a:t>Thank You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F583B680-F650-469F-A231-392F163461F6}" type="slidenum">
              <a:t>20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8BF281-33C5-4BF8-8FB1-6B87590B6A44}"/>
              </a:ext>
            </a:extLst>
          </p:cNvPr>
          <p:cNvSpPr>
            <a:spLocks noGrp="1"/>
          </p:cNvSpPr>
          <p:nvPr/>
        </p:nvSpPr>
        <p:spPr>
          <a:xfrm>
            <a:off x="809625" y="48101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00" b="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defPPr>
          </a:lstStyle>
          <a:p>
            <a:pPr algn="ctr">
              <a:defRPr sz="1900" b="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MEDIXAI</a:t>
            </a:r>
          </a:p>
          <a:p>
            <a:pPr algn="ctr">
              <a:defRPr sz="1900" b="0">
                <a:solidFill>
                  <a:srgbClr val="17365D"/>
                </a:solidFill>
                <a:latin typeface="Verdana"/>
                <a:ea typeface="Verdana"/>
                <a:cs typeface="Verdana"/>
              </a:defRPr>
            </a:pPr>
            <a:r>
              <a:rPr sz="1900" b="0">
                <a:solidFill>
                  <a:srgbClr val="17365D"/>
                </a:solidFill>
                <a:latin typeface="Verdana"/>
                <a:ea typeface="Verdana"/>
                <a:cs typeface="Verdana"/>
              </a:rPr>
              <a:t>Educational decision-support prototype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2413</Words>
  <Application>Microsoft Office PowerPoint</Application>
  <DocSecurity>0</DocSecurity>
  <PresentationFormat>Widescreen</PresentationFormat>
  <Paragraphs>244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Abstract</vt:lpstr>
      <vt:lpstr>Literature Survey</vt:lpstr>
      <vt:lpstr>Literature Survey</vt:lpstr>
      <vt:lpstr>Research Gap/Existing System</vt:lpstr>
      <vt:lpstr>Proposed System</vt:lpstr>
      <vt:lpstr>DFD Diagram</vt:lpstr>
      <vt:lpstr>Methodology/Work Flow Diagram</vt:lpstr>
      <vt:lpstr>Tools and Technologies</vt:lpstr>
      <vt:lpstr>List of Modules</vt:lpstr>
      <vt:lpstr>Module Descriptions – 1 and 2</vt:lpstr>
      <vt:lpstr>Module Descriptions – 3 to 5</vt:lpstr>
      <vt:lpstr>Results &amp; Discussion</vt:lpstr>
      <vt:lpstr>User Interface/ Screenshots</vt:lpstr>
      <vt:lpstr>Conclusion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Nishanth Rajan</cp:lastModifiedBy>
  <cp:revision>2</cp:revision>
  <dcterms:created xsi:type="dcterms:W3CDTF">2026-10-13T13:55:49Z</dcterms:created>
  <dcterms:modified xsi:type="dcterms:W3CDTF">2026-10-13T15:00:34Z</dcterms:modified>
</cp:coreProperties>
</file>