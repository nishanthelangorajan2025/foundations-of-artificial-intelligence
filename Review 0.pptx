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F31E85-6B50-4414-8303-1660ABD7E6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BFFCE1D-0AE9-4302-BF12-A2B0CA32A9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A3B001-ABFF-418E-9154-637B4600883D}" type="datetimeFigureOut">
              <a:rPr lang="en-IN" smtClean="0"/>
              <a:t>20-10-2026</a:t>
            </a:fld>
            <a:endParaRPr lang="en-IN"/>
          </a:p>
        </p:txBody>
      </p:sp>
      <p:sp>
        <p:nvSpPr>
          <p:cNvPr id="4" name="Footer Placeholder 3">
            <a:extLst>
              <a:ext uri="{FF2B5EF4-FFF2-40B4-BE49-F238E27FC236}">
                <a16:creationId xmlns:a16="http://schemas.microsoft.com/office/drawing/2014/main" id="{F5D54E17-5DD5-4758-8B2D-0B3BE7289F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D38A4D68-88AA-42B1-B509-F1FA04B3A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E9E7C3-5A08-4764-A95A-BBECC46AC650}" type="slidenum">
              <a:rPr lang="en-IN" smtClean="0"/>
              <a:t>‹#›</a:t>
            </a:fld>
            <a:endParaRPr lang="en-IN"/>
          </a:p>
        </p:txBody>
      </p:sp>
    </p:spTree>
    <p:extLst>
      <p:ext uri="{BB962C8B-B14F-4D97-AF65-F5344CB8AC3E}">
        <p14:creationId xmlns:p14="http://schemas.microsoft.com/office/powerpoint/2010/main" val="211026868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A9BA1-D418-46F7-B646-16F2E4E1F9F7}" type="datetimeFigureOut">
              <a:rPr lang="en-IN" smtClean="0"/>
              <a:t>20-10-2026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2CE00-EA5F-4FB0-8537-EFD9EFC07CA8}" type="slidenum">
              <a:rPr lang="en-IN" smtClean="0"/>
              <a:t>‹#›</a:t>
            </a:fld>
            <a:endParaRPr lang="en-IN"/>
          </a:p>
        </p:txBody>
      </p:sp>
    </p:spTree>
    <p:extLst>
      <p:ext uri="{BB962C8B-B14F-4D97-AF65-F5344CB8AC3E}">
        <p14:creationId xmlns:p14="http://schemas.microsoft.com/office/powerpoint/2010/main" val="347555755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A59A-BCBE-48E2-A350-FB035DDECB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FF6DBD-B524-460B-AA44-E186583A4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4A3FC-54A1-489A-8276-92648A22A5D9}"/>
              </a:ext>
            </a:extLst>
          </p:cNvPr>
          <p:cNvSpPr>
            <a:spLocks noGrp="1"/>
          </p:cNvSpPr>
          <p:nvPr>
            <p:ph type="dt" sz="half" idx="10"/>
          </p:nvPr>
        </p:nvSpPr>
        <p:spPr/>
        <p:txBody>
          <a:bodyPr/>
          <a:lstStyle/>
          <a:p>
            <a:fld id="{AF51A6A6-A7F2-4933-9075-6FF54A45A246}" type="datetime1">
              <a:rPr lang="en-IN" smtClean="0"/>
              <a:t>20-10-2026</a:t>
            </a:fld>
            <a:endParaRPr lang="en-IN"/>
          </a:p>
        </p:txBody>
      </p:sp>
      <p:sp>
        <p:nvSpPr>
          <p:cNvPr id="5" name="Footer Placeholder 4">
            <a:extLst>
              <a:ext uri="{FF2B5EF4-FFF2-40B4-BE49-F238E27FC236}">
                <a16:creationId xmlns:a16="http://schemas.microsoft.com/office/drawing/2014/main" id="{94F8D5EB-B231-46BD-AC05-9475512F664D}"/>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795ACC44-0FA3-41D7-8827-56818F396F7A}"/>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08745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A280-D3AA-4359-82E8-23CF7F95F9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0452E-B981-494B-AF11-EEEB6CB1B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6FC46-05C5-491A-98F5-67DFE9F1BD84}"/>
              </a:ext>
            </a:extLst>
          </p:cNvPr>
          <p:cNvSpPr>
            <a:spLocks noGrp="1"/>
          </p:cNvSpPr>
          <p:nvPr>
            <p:ph type="dt" sz="half" idx="10"/>
          </p:nvPr>
        </p:nvSpPr>
        <p:spPr/>
        <p:txBody>
          <a:bodyPr/>
          <a:lstStyle/>
          <a:p>
            <a:fld id="{8E93293B-E7C6-4EBD-97F1-D064646A23FC}" type="datetime1">
              <a:rPr lang="en-IN" smtClean="0"/>
              <a:t>20-10-2026</a:t>
            </a:fld>
            <a:endParaRPr lang="en-IN"/>
          </a:p>
        </p:txBody>
      </p:sp>
      <p:sp>
        <p:nvSpPr>
          <p:cNvPr id="5" name="Footer Placeholder 4">
            <a:extLst>
              <a:ext uri="{FF2B5EF4-FFF2-40B4-BE49-F238E27FC236}">
                <a16:creationId xmlns:a16="http://schemas.microsoft.com/office/drawing/2014/main" id="{25EC7F8E-CF1F-4BF8-9AB5-1D86268D62CB}"/>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609DCA77-D61D-46CC-A34B-A12DBAB35CA6}"/>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78456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E4260-F786-41D5-AA19-25971DA5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254B45-ABB3-43F6-A69A-330D3EEE3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6BFBA7F-C03D-42BA-860F-C0084E058366}"/>
              </a:ext>
            </a:extLst>
          </p:cNvPr>
          <p:cNvSpPr>
            <a:spLocks noGrp="1"/>
          </p:cNvSpPr>
          <p:nvPr>
            <p:ph type="dt" sz="half" idx="10"/>
          </p:nvPr>
        </p:nvSpPr>
        <p:spPr/>
        <p:txBody>
          <a:bodyPr/>
          <a:lstStyle/>
          <a:p>
            <a:fld id="{A9C731AF-597A-4011-A47A-590DF41FF4CE}" type="datetime1">
              <a:rPr lang="en-IN" smtClean="0"/>
              <a:t>20-10-2026</a:t>
            </a:fld>
            <a:endParaRPr lang="en-IN"/>
          </a:p>
        </p:txBody>
      </p:sp>
      <p:sp>
        <p:nvSpPr>
          <p:cNvPr id="5" name="Footer Placeholder 4">
            <a:extLst>
              <a:ext uri="{FF2B5EF4-FFF2-40B4-BE49-F238E27FC236}">
                <a16:creationId xmlns:a16="http://schemas.microsoft.com/office/drawing/2014/main" id="{743C5C7F-0F76-4539-A47B-34FE706B30B2}"/>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0338696-8488-4503-B740-D2352312EA0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108305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93C4-F8EF-4CB4-90F1-A6F2C25334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A15783-F42E-4766-9BD6-9281265A44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CDE48A-A630-45BF-BFE4-7FAE6E8FE5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F3FBA5-DF65-41CC-BAA5-E9D93CAD490F}"/>
              </a:ext>
            </a:extLst>
          </p:cNvPr>
          <p:cNvSpPr>
            <a:spLocks noGrp="1"/>
          </p:cNvSpPr>
          <p:nvPr>
            <p:ph type="dt" sz="half" idx="10"/>
          </p:nvPr>
        </p:nvSpPr>
        <p:spPr/>
        <p:txBody>
          <a:bodyPr/>
          <a:lstStyle/>
          <a:p>
            <a:fld id="{9BE8AE2A-4198-4CFC-8A3D-99793047056B}" type="datetime1">
              <a:rPr lang="en-IN" smtClean="0"/>
              <a:t>20-10-2026</a:t>
            </a:fld>
            <a:endParaRPr lang="en-IN"/>
          </a:p>
        </p:txBody>
      </p:sp>
      <p:sp>
        <p:nvSpPr>
          <p:cNvPr id="6" name="Footer Placeholder 5">
            <a:extLst>
              <a:ext uri="{FF2B5EF4-FFF2-40B4-BE49-F238E27FC236}">
                <a16:creationId xmlns:a16="http://schemas.microsoft.com/office/drawing/2014/main" id="{BD748E5F-5552-416B-BC90-C62417A3A8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3D6DDB7E-587A-4AA5-8A58-352BC20C792F}"/>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61870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7CEE-8F3F-40F1-B22D-D53F1637F0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BAEE05-D573-4122-8E24-00B78F74B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AF22DC4-F974-49BF-B147-72208B764F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E9CDB9-0076-4DF6-9690-182E5157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93C982-67D7-427B-8C3D-1FF7CC53EF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C65A0D-D7E5-4F76-A5DC-B3A473496CA6}"/>
              </a:ext>
            </a:extLst>
          </p:cNvPr>
          <p:cNvSpPr>
            <a:spLocks noGrp="1"/>
          </p:cNvSpPr>
          <p:nvPr>
            <p:ph type="dt" sz="half" idx="10"/>
          </p:nvPr>
        </p:nvSpPr>
        <p:spPr/>
        <p:txBody>
          <a:bodyPr/>
          <a:lstStyle/>
          <a:p>
            <a:fld id="{5979E98C-4750-4DE8-AE7D-913096F33BA4}" type="datetime1">
              <a:rPr lang="en-IN" smtClean="0"/>
              <a:t>20-10-2026</a:t>
            </a:fld>
            <a:endParaRPr lang="en-IN"/>
          </a:p>
        </p:txBody>
      </p:sp>
      <p:sp>
        <p:nvSpPr>
          <p:cNvPr id="8" name="Footer Placeholder 7">
            <a:extLst>
              <a:ext uri="{FF2B5EF4-FFF2-40B4-BE49-F238E27FC236}">
                <a16:creationId xmlns:a16="http://schemas.microsoft.com/office/drawing/2014/main" id="{5224A474-160B-4E5B-B8C1-9A764A898991}"/>
              </a:ext>
            </a:extLst>
          </p:cNvPr>
          <p:cNvSpPr>
            <a:spLocks noGrp="1"/>
          </p:cNvSpPr>
          <p:nvPr>
            <p:ph type="ftr" sz="quarter" idx="11"/>
          </p:nvPr>
        </p:nvSpPr>
        <p:spPr/>
        <p:txBody>
          <a:bodyPr/>
          <a:lstStyle/>
          <a:p>
            <a:r>
              <a:rPr lang="en-US"/>
              <a:t>Rajalakshmi Engineering College,Department of Cyber Security</a:t>
            </a:r>
            <a:endParaRPr lang="en-IN"/>
          </a:p>
        </p:txBody>
      </p:sp>
      <p:sp>
        <p:nvSpPr>
          <p:cNvPr id="9" name="Slide Number Placeholder 8">
            <a:extLst>
              <a:ext uri="{FF2B5EF4-FFF2-40B4-BE49-F238E27FC236}">
                <a16:creationId xmlns:a16="http://schemas.microsoft.com/office/drawing/2014/main" id="{66B52139-45CD-4883-962C-8B58CD26A6C3}"/>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2475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0830-F074-417B-B120-745038C2D8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EC52E2-6C9D-4F48-9885-60AA29DED4E7}"/>
              </a:ext>
            </a:extLst>
          </p:cNvPr>
          <p:cNvSpPr>
            <a:spLocks noGrp="1"/>
          </p:cNvSpPr>
          <p:nvPr>
            <p:ph type="dt" sz="half" idx="10"/>
          </p:nvPr>
        </p:nvSpPr>
        <p:spPr/>
        <p:txBody>
          <a:bodyPr/>
          <a:lstStyle/>
          <a:p>
            <a:fld id="{76A4900D-B9D7-4B48-B03E-93C6BFA38FDB}" type="datetime1">
              <a:rPr lang="en-IN" smtClean="0"/>
              <a:t>20-10-2026</a:t>
            </a:fld>
            <a:endParaRPr lang="en-IN"/>
          </a:p>
        </p:txBody>
      </p:sp>
      <p:sp>
        <p:nvSpPr>
          <p:cNvPr id="4" name="Footer Placeholder 3">
            <a:extLst>
              <a:ext uri="{FF2B5EF4-FFF2-40B4-BE49-F238E27FC236}">
                <a16:creationId xmlns:a16="http://schemas.microsoft.com/office/drawing/2014/main" id="{136F0182-AF02-46DC-A005-32A72DB49D7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BF89F1EB-8B71-439F-B1E9-6EA720C1B448}"/>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31062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2A6E2-8CED-468E-B9C8-63EEF92A1ACC}"/>
              </a:ext>
            </a:extLst>
          </p:cNvPr>
          <p:cNvSpPr>
            <a:spLocks noGrp="1"/>
          </p:cNvSpPr>
          <p:nvPr>
            <p:ph type="dt" sz="half" idx="10"/>
          </p:nvPr>
        </p:nvSpPr>
        <p:spPr/>
        <p:txBody>
          <a:bodyPr/>
          <a:lstStyle/>
          <a:p>
            <a:fld id="{999DD085-2496-430D-A475-FB3919DB8C97}" type="datetime1">
              <a:rPr lang="en-IN" smtClean="0"/>
              <a:t>20-10-2026</a:t>
            </a:fld>
            <a:endParaRPr lang="en-IN"/>
          </a:p>
        </p:txBody>
      </p:sp>
      <p:sp>
        <p:nvSpPr>
          <p:cNvPr id="3" name="Footer Placeholder 2">
            <a:extLst>
              <a:ext uri="{FF2B5EF4-FFF2-40B4-BE49-F238E27FC236}">
                <a16:creationId xmlns:a16="http://schemas.microsoft.com/office/drawing/2014/main" id="{BADDDBB6-47BF-4BE7-97E4-AB044897F59E}"/>
              </a:ext>
            </a:extLst>
          </p:cNvPr>
          <p:cNvSpPr>
            <a:spLocks noGrp="1"/>
          </p:cNvSpPr>
          <p:nvPr>
            <p:ph type="ftr" sz="quarter" idx="11"/>
          </p:nvPr>
        </p:nvSpPr>
        <p:spPr/>
        <p:txBody>
          <a:bodyPr/>
          <a:lstStyle/>
          <a:p>
            <a:r>
              <a:rPr lang="en-US"/>
              <a:t>Rajalakshmi Engineering College,Department of Cyber Security</a:t>
            </a:r>
            <a:endParaRPr lang="en-IN"/>
          </a:p>
        </p:txBody>
      </p:sp>
      <p:sp>
        <p:nvSpPr>
          <p:cNvPr id="4" name="Slide Number Placeholder 3">
            <a:extLst>
              <a:ext uri="{FF2B5EF4-FFF2-40B4-BE49-F238E27FC236}">
                <a16:creationId xmlns:a16="http://schemas.microsoft.com/office/drawing/2014/main" id="{7C40F90C-24D0-4C65-99B4-EADB86BE3DC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6710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65C33-D77F-42B7-969F-DE257926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398D13-72C5-42CB-BDE1-8AA6B32DD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35EF6E-114D-425F-BB1A-C3516411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18FDF-36DE-48DA-886F-421C220369FE}"/>
              </a:ext>
            </a:extLst>
          </p:cNvPr>
          <p:cNvSpPr>
            <a:spLocks noGrp="1"/>
          </p:cNvSpPr>
          <p:nvPr>
            <p:ph type="dt" sz="half" idx="10"/>
          </p:nvPr>
        </p:nvSpPr>
        <p:spPr/>
        <p:txBody>
          <a:bodyPr/>
          <a:lstStyle/>
          <a:p>
            <a:fld id="{76D46D8D-D6A6-4D95-BF85-9EF8F0710FA7}" type="datetime1">
              <a:rPr lang="en-IN" smtClean="0"/>
              <a:t>20-10-2026</a:t>
            </a:fld>
            <a:endParaRPr lang="en-IN"/>
          </a:p>
        </p:txBody>
      </p:sp>
      <p:sp>
        <p:nvSpPr>
          <p:cNvPr id="6" name="Footer Placeholder 5">
            <a:extLst>
              <a:ext uri="{FF2B5EF4-FFF2-40B4-BE49-F238E27FC236}">
                <a16:creationId xmlns:a16="http://schemas.microsoft.com/office/drawing/2014/main" id="{D8F1A6E3-D660-40AD-AC51-1F8805A5344F}"/>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2F190E82-A75D-48B1-B3E6-FF48ADF8056C}"/>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04670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77C-5B3A-48AD-9B45-4A9C9A23E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30F3EF-BF57-46A6-9EB6-2DA43D25D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45DFA0-E5C8-4DDF-B283-4A2DD170A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A8042-4719-4615-8878-7A26662FBAB6}"/>
              </a:ext>
            </a:extLst>
          </p:cNvPr>
          <p:cNvSpPr>
            <a:spLocks noGrp="1"/>
          </p:cNvSpPr>
          <p:nvPr>
            <p:ph type="dt" sz="half" idx="10"/>
          </p:nvPr>
        </p:nvSpPr>
        <p:spPr/>
        <p:txBody>
          <a:bodyPr/>
          <a:lstStyle/>
          <a:p>
            <a:fld id="{08C03A52-04AE-48F7-9FCF-E17B2D2BA4E4}" type="datetime1">
              <a:rPr lang="en-IN" smtClean="0"/>
              <a:t>20-10-2026</a:t>
            </a:fld>
            <a:endParaRPr lang="en-IN"/>
          </a:p>
        </p:txBody>
      </p:sp>
      <p:sp>
        <p:nvSpPr>
          <p:cNvPr id="6" name="Footer Placeholder 5">
            <a:extLst>
              <a:ext uri="{FF2B5EF4-FFF2-40B4-BE49-F238E27FC236}">
                <a16:creationId xmlns:a16="http://schemas.microsoft.com/office/drawing/2014/main" id="{379B10D6-FDCC-4E80-9116-42BC543C5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7ECE45E7-2218-4691-9448-44DD3A1AACD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42228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F59C-24A2-4159-9380-F6AAEA13E3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2AC032-FA02-45A1-B799-75A08E8884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449FC9-D5D3-4E4A-9286-9E96B8147DBC}"/>
              </a:ext>
            </a:extLst>
          </p:cNvPr>
          <p:cNvSpPr>
            <a:spLocks noGrp="1"/>
          </p:cNvSpPr>
          <p:nvPr>
            <p:ph type="dt" sz="half" idx="10"/>
          </p:nvPr>
        </p:nvSpPr>
        <p:spPr/>
        <p:txBody>
          <a:bodyPr/>
          <a:lstStyle/>
          <a:p>
            <a:fld id="{A40E1855-FF8B-4A8F-B974-476D0BEFE359}" type="datetime1">
              <a:rPr lang="en-IN" smtClean="0"/>
              <a:t>20-10-2026</a:t>
            </a:fld>
            <a:endParaRPr lang="en-IN"/>
          </a:p>
        </p:txBody>
      </p:sp>
      <p:sp>
        <p:nvSpPr>
          <p:cNvPr id="5" name="Footer Placeholder 4">
            <a:extLst>
              <a:ext uri="{FF2B5EF4-FFF2-40B4-BE49-F238E27FC236}">
                <a16:creationId xmlns:a16="http://schemas.microsoft.com/office/drawing/2014/main" id="{B189B5AB-659C-41B0-9073-34826E629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028DCFD4-462A-4C50-9A15-A34E5BAD4101}"/>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753087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6CEE7-4472-4220-ABE7-624EBBAB35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BCA2D1-1973-4733-9AC1-AA8B41575B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8E509-CC9E-46C7-BCB4-B4C77706FE67}"/>
              </a:ext>
            </a:extLst>
          </p:cNvPr>
          <p:cNvSpPr>
            <a:spLocks noGrp="1"/>
          </p:cNvSpPr>
          <p:nvPr>
            <p:ph type="dt" sz="half" idx="10"/>
          </p:nvPr>
        </p:nvSpPr>
        <p:spPr/>
        <p:txBody>
          <a:bodyPr/>
          <a:lstStyle/>
          <a:p>
            <a:fld id="{29F94AA9-A825-4631-9385-0F96794CA13F}" type="datetime1">
              <a:rPr lang="en-IN" smtClean="0"/>
              <a:t>20-10-2026</a:t>
            </a:fld>
            <a:endParaRPr lang="en-IN"/>
          </a:p>
        </p:txBody>
      </p:sp>
      <p:sp>
        <p:nvSpPr>
          <p:cNvPr id="5" name="Footer Placeholder 4">
            <a:extLst>
              <a:ext uri="{FF2B5EF4-FFF2-40B4-BE49-F238E27FC236}">
                <a16:creationId xmlns:a16="http://schemas.microsoft.com/office/drawing/2014/main" id="{366ADC3E-64E9-4052-AAAA-0A77E649D2E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7B93A4B-8F28-4558-9932-5AEBAE56567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92489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61322-C13F-4F32-A9C2-A66C573C5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44B022-D55F-4115-A03E-92A7A835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1FBDE-AF6F-4F87-97D2-A1D19B658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DD9C9-F760-491D-BEB2-C9719B2DAA72}" type="datetime1">
              <a:rPr lang="en-IN" smtClean="0"/>
              <a:t>20-10-2026</a:t>
            </a:fld>
            <a:endParaRPr lang="en-IN"/>
          </a:p>
        </p:txBody>
      </p:sp>
      <p:sp>
        <p:nvSpPr>
          <p:cNvPr id="5" name="Footer Placeholder 4">
            <a:extLst>
              <a:ext uri="{FF2B5EF4-FFF2-40B4-BE49-F238E27FC236}">
                <a16:creationId xmlns:a16="http://schemas.microsoft.com/office/drawing/2014/main" id="{3105F895-F6B3-49E8-AE71-CA9D6A533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EE01C5C0-3DE6-438F-852E-4102D3E1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F31F-072A-420B-BD3B-3E62C5546025}" type="slidenum">
              <a:rPr lang="en-IN" smtClean="0"/>
              <a:t>‹#›</a:t>
            </a:fld>
            <a:endParaRPr lang="en-IN"/>
          </a:p>
        </p:txBody>
      </p:sp>
    </p:spTree>
    <p:extLst>
      <p:ext uri="{BB962C8B-B14F-4D97-AF65-F5344CB8AC3E}">
        <p14:creationId xmlns:p14="http://schemas.microsoft.com/office/powerpoint/2010/main" val="3735061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36378/jtos.v8i1.4416" TargetMode="External"/><Relationship Id="rId2" Type="http://schemas.openxmlformats.org/officeDocument/2006/relationships/hyperlink" Target="https://doi.org/10.1186/s44147-023-00315-4" TargetMode="External"/><Relationship Id="rId1" Type="http://schemas.openxmlformats.org/officeDocument/2006/relationships/slideLayout" Target="../slideLayouts/slideLayout2.xml"/><Relationship Id="rId6" Type="http://schemas.openxmlformats.org/officeDocument/2006/relationships/hyperlink" Target="https://www.who.int/" TargetMode="External"/><Relationship Id="rId5" Type="http://schemas.openxmlformats.org/officeDocument/2006/relationships/hyperlink" Target="https://www.sqlite.org/" TargetMode="External"/><Relationship Id="rId4" Type="http://schemas.openxmlformats.org/officeDocument/2006/relationships/hyperlink" Target="https://docs.python.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a16="http://schemas.microsoft.com/office/drawing/2014/main" id="{B5C75A04-8A80-4B12-82DD-FB4D79DA72B3}"/>
              </a:ext>
            </a:extLst>
          </p:cNvPr>
          <p:cNvPicPr/>
          <p:nvPr/>
        </p:nvPicPr>
        <p:blipFill>
          <a:blip r:embed="rId2"/>
          <a:stretch/>
        </p:blipFill>
        <p:spPr>
          <a:xfrm>
            <a:off x="4305720" y="497541"/>
            <a:ext cx="3580560" cy="1155960"/>
          </a:xfrm>
          <a:prstGeom prst="rect">
            <a:avLst/>
          </a:prstGeom>
          <a:ln w="0">
            <a:noFill/>
          </a:ln>
        </p:spPr>
      </p:pic>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488141" y="1653501"/>
            <a:ext cx="9601199" cy="39315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lang="en-US" sz="3200" spc="-1" dirty="0">
                <a:solidFill>
                  <a:schemeClr val="dk1"/>
                </a:solidFill>
                <a:latin typeface="Calibri"/>
              </a:rPr>
              <a:t>              </a:t>
            </a:r>
            <a:r>
              <a:rPr lang="en-US" sz="4000" spc="-1" dirty="0">
                <a:solidFill>
                  <a:schemeClr val="dk1"/>
                </a:solidFill>
                <a:latin typeface="Times New Roman"/>
              </a:rPr>
              <a:t>Department of Cyber Security</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2026-2027- Odd Semester</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III Year /V Sem</a:t>
            </a:r>
          </a:p>
          <a:p>
            <a:pPr indent="0">
              <a:lnSpc>
                <a:spcPct val="100000"/>
              </a:lnSpc>
              <a:spcBef>
                <a:spcPts val="641"/>
              </a:spcBef>
              <a:buNone/>
              <a:tabLst>
                <a:tab pos="0" algn="l"/>
              </a:tabLst>
            </a:pPr>
            <a:r>
              <a:rPr lang="en-US" b="1" dirty="0"/>
              <a:t>          CS23533-FOUNDATIONS OF ARTIFICIAL INTELLIGENCE</a:t>
            </a:r>
            <a:endParaRPr lang="en-IN" sz="4000" spc="-1" dirty="0">
              <a:solidFill>
                <a:srgbClr val="000000"/>
              </a:solidFill>
              <a:latin typeface="Arial"/>
            </a:endParaRPr>
          </a:p>
          <a:p>
            <a:pPr lvl="0" indent="0">
              <a:lnSpc>
                <a:spcPct val="100000"/>
              </a:lnSpc>
              <a:spcBef>
                <a:spcPts val="641"/>
              </a:spcBef>
              <a:buClr>
                <a:schemeClr val="dk1"/>
              </a:buClr>
              <a:buSzPts val="4000"/>
              <a:buNone/>
            </a:pPr>
            <a:r>
              <a:rPr lang="en-US" sz="4000" spc="-1" dirty="0">
                <a:solidFill>
                  <a:schemeClr val="dk1"/>
                </a:solidFill>
                <a:latin typeface="Times New Roman"/>
              </a:rPr>
              <a:t>              Zeroth Review – </a:t>
            </a:r>
            <a:r>
              <a:rPr lang="en-US" sz="4000" dirty="0">
                <a:solidFill>
                  <a:schemeClr val="dk1"/>
                </a:solidFill>
                <a:latin typeface="Times New Roman"/>
                <a:ea typeface="Times New Roman"/>
                <a:cs typeface="Times New Roman"/>
                <a:sym typeface="Times New Roman"/>
              </a:rPr>
              <a:t>31/07/2026</a:t>
            </a:r>
            <a:endParaRPr lang="en-US" sz="4000" dirty="0">
              <a:solidFill>
                <a:srgbClr val="000000"/>
              </a:solidFill>
              <a:latin typeface="Arial"/>
              <a:ea typeface="Arial"/>
              <a:cs typeface="Arial"/>
              <a:sym typeface="Arial"/>
            </a:endParaRPr>
          </a:p>
        </p:txBody>
      </p:sp>
      <p:sp>
        <p:nvSpPr>
          <p:cNvPr id="14" name="Footer Placeholder 13">
            <a:extLst>
              <a:ext uri="{FF2B5EF4-FFF2-40B4-BE49-F238E27FC236}">
                <a16:creationId xmlns:a16="http://schemas.microsoft.com/office/drawing/2014/main" id="{9D81229B-0330-4B71-AFEC-B3C206A7C81E}"/>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225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a16="http://schemas.microsoft.com/office/drawing/2014/main" id="{B5C75A04-8A80-4B12-82DD-FB4D79DA72B3}"/>
              </a:ext>
            </a:extLst>
          </p:cNvPr>
          <p:cNvPicPr/>
          <p:nvPr/>
        </p:nvPicPr>
        <p:blipFill>
          <a:blip r:embed="rId2"/>
          <a:stretch/>
        </p:blipFill>
        <p:spPr>
          <a:xfrm>
            <a:off x="3030071" y="497541"/>
            <a:ext cx="4856209" cy="1155960"/>
          </a:xfrm>
          <a:prstGeom prst="rect">
            <a:avLst/>
          </a:prstGeom>
          <a:ln w="0">
            <a:noFill/>
          </a:ln>
        </p:spPr>
      </p:pic>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974557" y="2150808"/>
            <a:ext cx="9601199" cy="736772"/>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lnSpc>
                <a:spcPct val="100000"/>
              </a:lnSpc>
              <a:spcBef>
                <a:spcPts val="641"/>
              </a:spcBef>
              <a:buFont typeface="Arial" panose="020B0604020202020204" pitchFamily="34" charset="0"/>
              <a:buNone/>
              <a:tabLst>
                <a:tab pos="0" algn="l"/>
              </a:tabLst>
            </a:pPr>
            <a:r>
              <a:rPr lang="en-GB" sz="4000" dirty="0"/>
              <a:t>Explainable AI-Based Medical Expert System</a:t>
            </a:r>
            <a:endParaRPr lang="en-IN" sz="4000" b="1" spc="-1" dirty="0">
              <a:solidFill>
                <a:srgbClr val="000000"/>
              </a:solidFill>
              <a:latin typeface="Arial"/>
            </a:endParaRPr>
          </a:p>
        </p:txBody>
      </p:sp>
      <p:sp>
        <p:nvSpPr>
          <p:cNvPr id="4" name="PlaceHolder 2">
            <a:extLst>
              <a:ext uri="{FF2B5EF4-FFF2-40B4-BE49-F238E27FC236}">
                <a16:creationId xmlns:a16="http://schemas.microsoft.com/office/drawing/2014/main" id="{C32D6708-F773-46E7-9E94-72075E88B5CC}"/>
              </a:ext>
            </a:extLst>
          </p:cNvPr>
          <p:cNvSpPr txBox="1">
            <a:spLocks/>
          </p:cNvSpPr>
          <p:nvPr/>
        </p:nvSpPr>
        <p:spPr>
          <a:xfrm>
            <a:off x="974557" y="3278879"/>
            <a:ext cx="4519339" cy="192561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400"/>
              </a:spcBef>
              <a:buFont typeface="Arial" panose="020B0604020202020204" pitchFamily="34" charset="0"/>
              <a:buNone/>
              <a:tabLst>
                <a:tab pos="0" algn="l"/>
              </a:tabLst>
            </a:pPr>
            <a:r>
              <a:rPr lang="en-US" sz="2000" b="1" spc="-1" dirty="0">
                <a:solidFill>
                  <a:schemeClr val="dk1"/>
                </a:solidFill>
                <a:latin typeface="Times New Roman"/>
              </a:rPr>
              <a:t>Batch Members :</a:t>
            </a:r>
          </a:p>
          <a:p>
            <a:pPr lvl="0" indent="0">
              <a:lnSpc>
                <a:spcPct val="100000"/>
              </a:lnSpc>
              <a:spcBef>
                <a:spcPts val="400"/>
              </a:spcBef>
              <a:buClr>
                <a:schemeClr val="dk1"/>
              </a:buClr>
              <a:buSzPts val="2000"/>
              <a:buNone/>
            </a:pPr>
            <a:r>
              <a:rPr lang="fi-FI" sz="2000" dirty="0">
                <a:solidFill>
                  <a:schemeClr val="dk1"/>
                </a:solidFill>
                <a:latin typeface="Times New Roman"/>
                <a:ea typeface="Times New Roman"/>
                <a:cs typeface="Times New Roman"/>
                <a:sym typeface="Times New Roman"/>
              </a:rPr>
              <a:t>1.Naveen Raj : 241901070 </a:t>
            </a:r>
            <a:endParaRPr lang="fi-FI" sz="2000" dirty="0"/>
          </a:p>
          <a:p>
            <a:pPr lvl="0" indent="0">
              <a:lnSpc>
                <a:spcPct val="100000"/>
              </a:lnSpc>
              <a:spcBef>
                <a:spcPts val="400"/>
              </a:spcBef>
              <a:buClr>
                <a:schemeClr val="dk1"/>
              </a:buClr>
              <a:buSzPts val="2000"/>
              <a:buNone/>
            </a:pPr>
            <a:r>
              <a:rPr lang="fi-FI" sz="2000" dirty="0">
                <a:solidFill>
                  <a:schemeClr val="dk1"/>
                </a:solidFill>
                <a:latin typeface="Times New Roman"/>
                <a:ea typeface="Times New Roman"/>
                <a:cs typeface="Times New Roman"/>
                <a:sym typeface="Times New Roman"/>
              </a:rPr>
              <a:t>2.Nishanth Elango Rajan : 241901075</a:t>
            </a:r>
            <a:endParaRPr lang="fi-FI" sz="2000" dirty="0">
              <a:solidFill>
                <a:srgbClr val="000000"/>
              </a:solidFill>
              <a:sym typeface="Arial"/>
            </a:endParaRPr>
          </a:p>
          <a:p>
            <a:pPr indent="0">
              <a:lnSpc>
                <a:spcPct val="100000"/>
              </a:lnSpc>
              <a:spcBef>
                <a:spcPts val="400"/>
              </a:spcBef>
              <a:buFont typeface="Arial" panose="020B0604020202020204" pitchFamily="34" charset="0"/>
              <a:buNone/>
              <a:tabLst>
                <a:tab pos="0" algn="l"/>
              </a:tabLst>
            </a:pPr>
            <a:endParaRPr lang="en-IN" sz="2000"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5" name="PlaceHolder 2">
            <a:extLst>
              <a:ext uri="{FF2B5EF4-FFF2-40B4-BE49-F238E27FC236}">
                <a16:creationId xmlns:a16="http://schemas.microsoft.com/office/drawing/2014/main" id="{34960059-C4DC-4A0F-82B7-476907EEDA90}"/>
              </a:ext>
            </a:extLst>
          </p:cNvPr>
          <p:cNvSpPr txBox="1">
            <a:spLocks/>
          </p:cNvSpPr>
          <p:nvPr/>
        </p:nvSpPr>
        <p:spPr>
          <a:xfrm>
            <a:off x="6329082" y="3278879"/>
            <a:ext cx="4086554" cy="16107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000" b="1" strike="noStrike" spc="-1" dirty="0">
                <a:solidFill>
                  <a:schemeClr val="dk1"/>
                </a:solidFill>
                <a:latin typeface="Times New Roman"/>
              </a:rPr>
              <a:t>Supervisor:</a:t>
            </a:r>
            <a:endParaRPr lang="en-IN" sz="2000" b="0" strike="noStrike" spc="-1" dirty="0">
              <a:solidFill>
                <a:srgbClr val="000000"/>
              </a:solidFill>
              <a:latin typeface="Arial"/>
            </a:endParaRPr>
          </a:p>
          <a:p>
            <a:pPr marL="0" indent="0">
              <a:lnSpc>
                <a:spcPct val="100000"/>
              </a:lnSpc>
              <a:buNone/>
            </a:pPr>
            <a:r>
              <a:rPr lang="en-US" sz="2000" b="1" strike="noStrike" spc="-1" dirty="0">
                <a:solidFill>
                  <a:schemeClr val="dk1"/>
                </a:solidFill>
                <a:latin typeface="Times New Roman"/>
              </a:rPr>
              <a:t>Dr. </a:t>
            </a:r>
            <a:r>
              <a:rPr lang="en-US" sz="2000" b="1" strike="noStrike" spc="-1" dirty="0" err="1">
                <a:solidFill>
                  <a:schemeClr val="dk1"/>
                </a:solidFill>
                <a:latin typeface="Times New Roman"/>
              </a:rPr>
              <a:t>S.Bhuvana</a:t>
            </a:r>
            <a:endParaRPr lang="en-IN" sz="2000" b="0" strike="noStrike" spc="-1" dirty="0">
              <a:solidFill>
                <a:srgbClr val="000000"/>
              </a:solidFill>
              <a:latin typeface="Arial"/>
            </a:endParaRPr>
          </a:p>
          <a:p>
            <a:pPr marL="0" indent="0">
              <a:lnSpc>
                <a:spcPct val="100000"/>
              </a:lnSpc>
              <a:buNone/>
            </a:pPr>
            <a:r>
              <a:rPr lang="en-US" sz="2000" b="1" spc="-1" baseline="33000" dirty="0">
                <a:solidFill>
                  <a:schemeClr val="dk1"/>
                </a:solidFill>
                <a:latin typeface="Times New Roman"/>
              </a:rPr>
              <a:t>Assistant Professor[SG]</a:t>
            </a:r>
            <a:endParaRPr lang="en-IN" sz="2000" b="0" strike="noStrike"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2" name="Footer Placeholder 1">
            <a:extLst>
              <a:ext uri="{FF2B5EF4-FFF2-40B4-BE49-F238E27FC236}">
                <a16:creationId xmlns:a16="http://schemas.microsoft.com/office/drawing/2014/main" id="{B9EA50C1-7D90-44B1-A258-E5A0DCD6BCCE}"/>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89848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FF9B-84EC-4676-8D8A-BE77AD168FCD}"/>
              </a:ext>
            </a:extLst>
          </p:cNvPr>
          <p:cNvSpPr>
            <a:spLocks noGrp="1"/>
          </p:cNvSpPr>
          <p:nvPr>
            <p:ph type="title"/>
          </p:nvPr>
        </p:nvSpPr>
        <p:spPr/>
        <p:txBody>
          <a:bodyPr/>
          <a:lstStyle/>
          <a:p>
            <a:pPr algn="ctr"/>
            <a:r>
              <a:rPr lang="en-US" b="1" spc="-1" dirty="0">
                <a:solidFill>
                  <a:schemeClr val="accent1">
                    <a:lumMod val="50000"/>
                  </a:schemeClr>
                </a:solidFill>
                <a:latin typeface="Times New Roman"/>
              </a:rPr>
              <a:t>OUTLINE</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DACBC5E5-D6BC-4856-A612-FD6448275CA9}"/>
              </a:ext>
            </a:extLst>
          </p:cNvPr>
          <p:cNvSpPr>
            <a:spLocks noGrp="1"/>
          </p:cNvSpPr>
          <p:nvPr>
            <p:ph idx="1"/>
          </p:nvPr>
        </p:nvSpPr>
        <p:spPr>
          <a:xfrm>
            <a:off x="918882" y="1771837"/>
            <a:ext cx="10515600" cy="4351338"/>
          </a:xfrm>
        </p:spPr>
        <p:txBody>
          <a:bodyPr>
            <a:normAutofit fontScale="77500" lnSpcReduction="20000"/>
          </a:bodyPr>
          <a:lstStyle/>
          <a:p>
            <a:pPr marL="343080" indent="-343080">
              <a:lnSpc>
                <a:spcPct val="150000"/>
              </a:lnSpc>
              <a:spcBef>
                <a:spcPts val="819"/>
              </a:spcBef>
              <a:buClr>
                <a:srgbClr val="000000"/>
              </a:buClr>
              <a:buFont typeface="Arial"/>
              <a:buChar char="•"/>
            </a:pPr>
            <a:r>
              <a:rPr lang="en-IN" spc="-1" dirty="0">
                <a:solidFill>
                  <a:schemeClr val="dk1"/>
                </a:solidFill>
                <a:latin typeface="Times New Roman"/>
              </a:rPr>
              <a:t>Abstract</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Objective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Literature Survey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Summary of Literature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Proposed System &amp; Novelty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Block Diagram</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Hardware/Software requirements</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References</a:t>
            </a:r>
            <a:endParaRPr lang="en-IN" spc="-1" dirty="0">
              <a:solidFill>
                <a:srgbClr val="000000"/>
              </a:solidFill>
              <a:latin typeface="Arial"/>
            </a:endParaRPr>
          </a:p>
          <a:p>
            <a:endParaRPr lang="en-IN" dirty="0"/>
          </a:p>
        </p:txBody>
      </p:sp>
      <p:sp>
        <p:nvSpPr>
          <p:cNvPr id="5" name="Footer Placeholder 4">
            <a:extLst>
              <a:ext uri="{FF2B5EF4-FFF2-40B4-BE49-F238E27FC236}">
                <a16:creationId xmlns:a16="http://schemas.microsoft.com/office/drawing/2014/main" id="{92766A6D-AFEB-431C-8C27-3D289E1F416E}"/>
              </a:ext>
            </a:extLst>
          </p:cNvPr>
          <p:cNvSpPr>
            <a:spLocks noGrp="1"/>
          </p:cNvSpPr>
          <p:nvPr>
            <p:ph type="ftr" sz="quarter" idx="11"/>
          </p:nvPr>
        </p:nvSpPr>
        <p:spPr>
          <a:xfrm>
            <a:off x="4038600" y="6356350"/>
            <a:ext cx="4114800" cy="365125"/>
          </a:xfrm>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22223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574-4D6E-453A-A5B1-E1B1A0126EB9}"/>
              </a:ext>
            </a:extLst>
          </p:cNvPr>
          <p:cNvSpPr>
            <a:spLocks noGrp="1"/>
          </p:cNvSpPr>
          <p:nvPr>
            <p:ph type="title"/>
          </p:nvPr>
        </p:nvSpPr>
        <p:spPr>
          <a:xfrm>
            <a:off x="838200" y="365126"/>
            <a:ext cx="10515600" cy="950328"/>
          </a:xfrm>
        </p:spPr>
        <p:txBody>
          <a:bodyPr/>
          <a:lstStyle/>
          <a:p>
            <a:pPr algn="ctr"/>
            <a:r>
              <a:rPr lang="en-US" b="1" dirty="0">
                <a:solidFill>
                  <a:schemeClr val="accent1">
                    <a:lumMod val="50000"/>
                  </a:schemeClr>
                </a:solidFill>
              </a:rPr>
              <a:t>ABSTRACT</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A2770EE2-8C3E-4EFA-8326-85AEA10ABEB2}"/>
              </a:ext>
            </a:extLst>
          </p:cNvPr>
          <p:cNvSpPr>
            <a:spLocks noGrp="1"/>
          </p:cNvSpPr>
          <p:nvPr>
            <p:ph idx="1"/>
          </p:nvPr>
        </p:nvSpPr>
        <p:spPr>
          <a:xfrm>
            <a:off x="336884" y="1524000"/>
            <a:ext cx="11582400" cy="4652963"/>
          </a:xfrm>
        </p:spPr>
        <p:txBody>
          <a:bodyPr>
            <a:normAutofit fontScale="85000" lnSpcReduction="20000"/>
          </a:bodyPr>
          <a:lstStyle/>
          <a:p>
            <a:r>
              <a:rPr lang="en-GB" dirty="0"/>
              <a:t>Artificial Intelligence has significantly improved decision-support systems in various domains, especially healthcare. Traditional disease diagnosis systems often provide results without explaining how the diagnosis was reached, making it difficult for users to trust the recommendations. This project proposes an </a:t>
            </a:r>
            <a:r>
              <a:rPr lang="en-GB" b="1" dirty="0"/>
              <a:t>Explainable AI-Based Medical Expert System</a:t>
            </a:r>
            <a:r>
              <a:rPr lang="en-GB" dirty="0"/>
              <a:t> that performs disease diagnosis using classical Artificial Intelligence techniques instead of Machine Learning or Deep Learning.</a:t>
            </a:r>
          </a:p>
          <a:p>
            <a:r>
              <a:rPr lang="en-GB" dirty="0"/>
              <a:t>The proposed system uses a knowledge base containing medical rules, symptoms, diseases, and treatments. An inference engine applies </a:t>
            </a:r>
            <a:r>
              <a:rPr lang="en-GB" b="1" dirty="0"/>
              <a:t>Forward Chaining</a:t>
            </a:r>
            <a:r>
              <a:rPr lang="en-GB" dirty="0"/>
              <a:t>, </a:t>
            </a:r>
            <a:r>
              <a:rPr lang="en-GB" b="1" dirty="0"/>
              <a:t>Backward Chaining</a:t>
            </a:r>
            <a:r>
              <a:rPr lang="en-GB" dirty="0"/>
              <a:t>, </a:t>
            </a:r>
            <a:r>
              <a:rPr lang="en-GB" b="1" dirty="0"/>
              <a:t>First-Order Logic</a:t>
            </a:r>
            <a:r>
              <a:rPr lang="en-GB" dirty="0"/>
              <a:t>, and </a:t>
            </a:r>
            <a:r>
              <a:rPr lang="en-GB" b="1" dirty="0"/>
              <a:t>Resolution</a:t>
            </a:r>
            <a:r>
              <a:rPr lang="en-GB" dirty="0"/>
              <a:t> to derive conclusions from the symptoms entered by the user. Unlike conventional rule-based systems, the proposed system provides a complete reasoning trace by displaying the rules fired, facts considered, and inference path followed to reach the diagnosis. It also detects contradictory symptom combinations and assists users with rule-based treatment recommendations.</a:t>
            </a:r>
          </a:p>
          <a:p>
            <a:r>
              <a:rPr lang="en-GB" dirty="0"/>
              <a:t>The project aims to demonstrate the practical application of knowledge representation and logical reasoning in healthcare while ensuring transparency, interpretability, and ease of maintenance.</a:t>
            </a:r>
          </a:p>
          <a:p>
            <a:pPr marL="0" indent="0">
              <a:buNone/>
            </a:pPr>
            <a:endParaRPr lang="en-US" dirty="0"/>
          </a:p>
        </p:txBody>
      </p:sp>
      <p:sp>
        <p:nvSpPr>
          <p:cNvPr id="4" name="Footer Placeholder 3">
            <a:extLst>
              <a:ext uri="{FF2B5EF4-FFF2-40B4-BE49-F238E27FC236}">
                <a16:creationId xmlns:a16="http://schemas.microsoft.com/office/drawing/2014/main" id="{8C253352-E09F-4AB3-90E5-A8680AC6D6F3}"/>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41111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5A73F-58BE-494C-9E37-463BBF53F79A}"/>
              </a:ext>
            </a:extLst>
          </p:cNvPr>
          <p:cNvSpPr>
            <a:spLocks noGrp="1"/>
          </p:cNvSpPr>
          <p:nvPr>
            <p:ph type="title"/>
          </p:nvPr>
        </p:nvSpPr>
        <p:spPr>
          <a:xfrm>
            <a:off x="741947" y="782219"/>
            <a:ext cx="10515600" cy="870117"/>
          </a:xfrm>
        </p:spPr>
        <p:txBody>
          <a:bodyPr/>
          <a:lstStyle/>
          <a:p>
            <a:pPr algn="ctr"/>
            <a:r>
              <a:rPr lang="en-US" b="1" dirty="0">
                <a:solidFill>
                  <a:schemeClr val="accent1">
                    <a:lumMod val="50000"/>
                  </a:schemeClr>
                </a:solidFill>
              </a:rPr>
              <a:t>OBJECTIVE</a:t>
            </a:r>
            <a:endParaRPr lang="en-IN" b="1" dirty="0">
              <a:solidFill>
                <a:schemeClr val="accent1">
                  <a:lumMod val="50000"/>
                </a:schemeClr>
              </a:solidFill>
            </a:endParaRPr>
          </a:p>
        </p:txBody>
      </p:sp>
      <p:sp>
        <p:nvSpPr>
          <p:cNvPr id="4" name="Footer Placeholder 3">
            <a:extLst>
              <a:ext uri="{FF2B5EF4-FFF2-40B4-BE49-F238E27FC236}">
                <a16:creationId xmlns:a16="http://schemas.microsoft.com/office/drawing/2014/main" id="{18E4B311-0D66-420D-91AF-1DC9BBF4EC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Rectangle 1"/>
          <p:cNvSpPr>
            <a:spLocks noGrp="1" noChangeArrowheads="1"/>
          </p:cNvSpPr>
          <p:nvPr>
            <p:ph idx="1"/>
          </p:nvPr>
        </p:nvSpPr>
        <p:spPr bwMode="auto">
          <a:xfrm>
            <a:off x="421105" y="2387606"/>
            <a:ext cx="1117733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Develop a rule-based medical expert system for disease diagnosis.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Represent medical knowledge using logical rules.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Implement Forward Chaining and Backward Chaining inference techniques.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Apply First-Order Logic and Resolution for logical reasoning.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Generate explainable diagnoses by displaying the inference process.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Compare different reasoning techniques based on execution efficiency.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Build a user-friendly interface using free and open-source tools. </a:t>
            </a:r>
          </a:p>
        </p:txBody>
      </p:sp>
    </p:spTree>
    <p:extLst>
      <p:ext uri="{BB962C8B-B14F-4D97-AF65-F5344CB8AC3E}">
        <p14:creationId xmlns:p14="http://schemas.microsoft.com/office/powerpoint/2010/main" val="540813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21B0-8A61-4C94-955E-EB6F2E038627}"/>
              </a:ext>
            </a:extLst>
          </p:cNvPr>
          <p:cNvSpPr>
            <a:spLocks noGrp="1"/>
          </p:cNvSpPr>
          <p:nvPr>
            <p:ph type="title"/>
          </p:nvPr>
        </p:nvSpPr>
        <p:spPr/>
        <p:txBody>
          <a:bodyPr/>
          <a:lstStyle/>
          <a:p>
            <a:pPr algn="ctr"/>
            <a:r>
              <a:rPr lang="en-IN" spc="-1" dirty="0">
                <a:solidFill>
                  <a:schemeClr val="accent1">
                    <a:lumMod val="50000"/>
                  </a:schemeClr>
                </a:solidFill>
                <a:latin typeface="Times New Roman"/>
              </a:rPr>
              <a:t>Literature Survey</a:t>
            </a:r>
            <a:endParaRPr lang="en-IN" dirty="0">
              <a:solidFill>
                <a:schemeClr val="accent1">
                  <a:lumMod val="50000"/>
                </a:schemeClr>
              </a:solidFill>
            </a:endParaRPr>
          </a:p>
        </p:txBody>
      </p:sp>
      <p:graphicFrame>
        <p:nvGraphicFramePr>
          <p:cNvPr id="4" name="Content Placeholder 3">
            <a:extLst>
              <a:ext uri="{FF2B5EF4-FFF2-40B4-BE49-F238E27FC236}">
                <a16:creationId xmlns:a16="http://schemas.microsoft.com/office/drawing/2014/main" id="{94AD0D87-7379-47F8-8088-D1CC07223467}"/>
              </a:ext>
            </a:extLst>
          </p:cNvPr>
          <p:cNvGraphicFramePr>
            <a:graphicFrameLocks noGrp="1"/>
          </p:cNvGraphicFramePr>
          <p:nvPr>
            <p:ph idx="1"/>
            <p:extLst>
              <p:ext uri="{D42A27DB-BD31-4B8C-83A1-F6EECF244321}">
                <p14:modId xmlns:p14="http://schemas.microsoft.com/office/powerpoint/2010/main" val="1038599881"/>
              </p:ext>
            </p:extLst>
          </p:nvPr>
        </p:nvGraphicFramePr>
        <p:xfrm>
          <a:off x="854242" y="1504783"/>
          <a:ext cx="10367684" cy="4651057"/>
        </p:xfrm>
        <a:graphic>
          <a:graphicData uri="http://schemas.openxmlformats.org/drawingml/2006/table">
            <a:tbl>
              <a:tblPr firstRow="1" bandRow="1">
                <a:tableStyleId>{5C22544A-7EE6-4342-B048-85BDC9FD1C3A}</a:tableStyleId>
              </a:tblPr>
              <a:tblGrid>
                <a:gridCol w="2591921">
                  <a:extLst>
                    <a:ext uri="{9D8B030D-6E8A-4147-A177-3AD203B41FA5}">
                      <a16:colId xmlns:a16="http://schemas.microsoft.com/office/drawing/2014/main" val="211445039"/>
                    </a:ext>
                  </a:extLst>
                </a:gridCol>
                <a:gridCol w="2591921">
                  <a:extLst>
                    <a:ext uri="{9D8B030D-6E8A-4147-A177-3AD203B41FA5}">
                      <a16:colId xmlns:a16="http://schemas.microsoft.com/office/drawing/2014/main" val="2379671661"/>
                    </a:ext>
                  </a:extLst>
                </a:gridCol>
                <a:gridCol w="2591921">
                  <a:extLst>
                    <a:ext uri="{9D8B030D-6E8A-4147-A177-3AD203B41FA5}">
                      <a16:colId xmlns:a16="http://schemas.microsoft.com/office/drawing/2014/main" val="1466785847"/>
                    </a:ext>
                  </a:extLst>
                </a:gridCol>
                <a:gridCol w="2591921">
                  <a:extLst>
                    <a:ext uri="{9D8B030D-6E8A-4147-A177-3AD203B41FA5}">
                      <a16:colId xmlns:a16="http://schemas.microsoft.com/office/drawing/2014/main" val="1579054086"/>
                    </a:ext>
                  </a:extLst>
                </a:gridCol>
              </a:tblGrid>
              <a:tr h="909593">
                <a:tc>
                  <a:txBody>
                    <a:bodyPr/>
                    <a:lstStyle/>
                    <a:p>
                      <a:pPr algn="ctr"/>
                      <a:r>
                        <a:rPr lang="en-US" sz="2800" dirty="0"/>
                        <a:t>TITLE</a:t>
                      </a:r>
                      <a:endParaRPr lang="en-IN" sz="2800" dirty="0"/>
                    </a:p>
                  </a:txBody>
                  <a:tcPr/>
                </a:tc>
                <a:tc>
                  <a:txBody>
                    <a:bodyPr/>
                    <a:lstStyle/>
                    <a:p>
                      <a:pPr algn="ctr"/>
                      <a:r>
                        <a:rPr lang="en-US" sz="2800" dirty="0"/>
                        <a:t>YEAR</a:t>
                      </a:r>
                      <a:endParaRPr lang="en-IN" sz="2800" dirty="0"/>
                    </a:p>
                  </a:txBody>
                  <a:tcPr/>
                </a:tc>
                <a:tc>
                  <a:txBody>
                    <a:bodyPr/>
                    <a:lstStyle/>
                    <a:p>
                      <a:pPr algn="ctr"/>
                      <a:r>
                        <a:rPr lang="en-US" sz="2800" dirty="0"/>
                        <a:t>AUTHOR</a:t>
                      </a:r>
                      <a:endParaRPr lang="en-IN" sz="2800" dirty="0"/>
                    </a:p>
                  </a:txBody>
                  <a:tcPr/>
                </a:tc>
                <a:tc>
                  <a:txBody>
                    <a:bodyPr/>
                    <a:lstStyle/>
                    <a:p>
                      <a:pPr algn="ctr"/>
                      <a:r>
                        <a:rPr lang="en-US" sz="2800" dirty="0"/>
                        <a:t>TECHNIQUE</a:t>
                      </a:r>
                      <a:endParaRPr lang="en-IN" sz="2800" dirty="0"/>
                    </a:p>
                  </a:txBody>
                  <a:tcPr/>
                </a:tc>
                <a:extLst>
                  <a:ext uri="{0D108BD9-81ED-4DB2-BD59-A6C34878D82A}">
                    <a16:rowId xmlns:a16="http://schemas.microsoft.com/office/drawing/2014/main" val="2693069419"/>
                  </a:ext>
                </a:extLst>
              </a:tr>
              <a:tr h="1002052">
                <a:tc>
                  <a:txBody>
                    <a:bodyPr/>
                    <a:lstStyle/>
                    <a:p>
                      <a:pPr algn="ctr"/>
                      <a:r>
                        <a:rPr lang="en-GB" dirty="0"/>
                        <a:t>MYCIN: A Rule-Based Computer Program for Advising Physicians</a:t>
                      </a:r>
                      <a:r>
                        <a:rPr lang="en-IN" dirty="0"/>
                        <a:t>m</a:t>
                      </a:r>
                    </a:p>
                  </a:txBody>
                  <a:tcPr/>
                </a:tc>
                <a:tc>
                  <a:txBody>
                    <a:bodyPr/>
                    <a:lstStyle/>
                    <a:p>
                      <a:endParaRPr lang="en-IN" dirty="0"/>
                    </a:p>
                    <a:p>
                      <a:pPr algn="ctr"/>
                      <a:r>
                        <a:rPr lang="en-IN" dirty="0"/>
                        <a:t>1976</a:t>
                      </a:r>
                    </a:p>
                  </a:txBody>
                  <a:tcPr/>
                </a:tc>
                <a:tc>
                  <a:txBody>
                    <a:bodyPr/>
                    <a:lstStyle/>
                    <a:p>
                      <a:pPr algn="ctr"/>
                      <a:endParaRPr lang="en-IN" dirty="0"/>
                    </a:p>
                    <a:p>
                      <a:pPr algn="ctr"/>
                      <a:r>
                        <a:rPr lang="en-IN" dirty="0"/>
                        <a:t>Edward H. Shortliffe</a:t>
                      </a:r>
                    </a:p>
                  </a:txBody>
                  <a:tcPr/>
                </a:tc>
                <a:tc>
                  <a:txBody>
                    <a:bodyPr/>
                    <a:lstStyle/>
                    <a:p>
                      <a:r>
                        <a:rPr lang="en-GB" dirty="0"/>
                        <a:t>Rule-Based Expert System, Forward Chaining</a:t>
                      </a:r>
                      <a:endParaRPr lang="en-IN" dirty="0"/>
                    </a:p>
                  </a:txBody>
                  <a:tcPr anchor="ctr"/>
                </a:tc>
                <a:extLst>
                  <a:ext uri="{0D108BD9-81ED-4DB2-BD59-A6C34878D82A}">
                    <a16:rowId xmlns:a16="http://schemas.microsoft.com/office/drawing/2014/main" val="2101231002"/>
                  </a:ext>
                </a:extLst>
              </a:tr>
              <a:tr h="1002052">
                <a:tc>
                  <a:txBody>
                    <a:bodyPr/>
                    <a:lstStyle/>
                    <a:p>
                      <a:pPr algn="ctr"/>
                      <a:r>
                        <a:rPr lang="en-IN" dirty="0"/>
                        <a:t>CADUCEUS: Medical Expert System</a:t>
                      </a:r>
                    </a:p>
                  </a:txBody>
                  <a:tcPr/>
                </a:tc>
                <a:tc>
                  <a:txBody>
                    <a:bodyPr/>
                    <a:lstStyle/>
                    <a:p>
                      <a:pPr algn="ctr"/>
                      <a:endParaRPr lang="en-GB" dirty="0"/>
                    </a:p>
                    <a:p>
                      <a:pPr algn="ctr"/>
                      <a:r>
                        <a:rPr lang="en-GB" dirty="0"/>
                        <a:t>1984</a:t>
                      </a:r>
                      <a:endParaRPr lang="en-IN" dirty="0"/>
                    </a:p>
                  </a:txBody>
                  <a:tcPr/>
                </a:tc>
                <a:tc>
                  <a:txBody>
                    <a:bodyPr/>
                    <a:lstStyle/>
                    <a:p>
                      <a:pPr algn="ctr"/>
                      <a:endParaRPr lang="en-IN" dirty="0"/>
                    </a:p>
                    <a:p>
                      <a:pPr algn="ctr"/>
                      <a:r>
                        <a:rPr lang="en-IN" dirty="0"/>
                        <a:t>Harry E. Pople Jr.</a:t>
                      </a:r>
                    </a:p>
                  </a:txBody>
                  <a:tcPr/>
                </a:tc>
                <a:tc>
                  <a:txBody>
                    <a:bodyPr/>
                    <a:lstStyle/>
                    <a:p>
                      <a:r>
                        <a:rPr lang="en-IN" dirty="0"/>
                        <a:t>Knowledge Representation &amp; Rule-Based Reasoning</a:t>
                      </a:r>
                    </a:p>
                  </a:txBody>
                  <a:tcPr/>
                </a:tc>
                <a:extLst>
                  <a:ext uri="{0D108BD9-81ED-4DB2-BD59-A6C34878D82A}">
                    <a16:rowId xmlns:a16="http://schemas.microsoft.com/office/drawing/2014/main" val="3550106974"/>
                  </a:ext>
                </a:extLst>
              </a:tr>
              <a:tr h="1709604">
                <a:tc>
                  <a:txBody>
                    <a:bodyPr/>
                    <a:lstStyle/>
                    <a:p>
                      <a:pPr algn="ctr"/>
                      <a:r>
                        <a:rPr lang="en-IN" dirty="0"/>
                        <a:t>Explainable Artificial Intelligence (XAI): Concepts, Taxonomies, Opportunities and Challenges toward Responsible AI</a:t>
                      </a:r>
                    </a:p>
                  </a:txBody>
                  <a:tcPr/>
                </a:tc>
                <a:tc>
                  <a:txBody>
                    <a:bodyPr/>
                    <a:lstStyle/>
                    <a:p>
                      <a:endParaRPr lang="en-GB" dirty="0"/>
                    </a:p>
                    <a:p>
                      <a:endParaRPr lang="en-GB" dirty="0"/>
                    </a:p>
                    <a:p>
                      <a:pPr algn="ctr"/>
                      <a:r>
                        <a:rPr lang="en-GB" dirty="0"/>
                        <a:t>2022</a:t>
                      </a:r>
                      <a:endParaRPr lang="en-IN" dirty="0"/>
                    </a:p>
                  </a:txBody>
                  <a:tcPr/>
                </a:tc>
                <a:tc>
                  <a:txBody>
                    <a:bodyPr/>
                    <a:lstStyle/>
                    <a:p>
                      <a:pPr algn="ctr"/>
                      <a:r>
                        <a:rPr lang="en-IN" dirty="0"/>
                        <a:t>Dinh C. Nguyen,</a:t>
                      </a:r>
                    </a:p>
                    <a:p>
                      <a:pPr algn="ctr"/>
                      <a:r>
                        <a:rPr lang="en-IN" dirty="0"/>
                        <a:t> Ming Ding, </a:t>
                      </a:r>
                    </a:p>
                    <a:p>
                      <a:pPr algn="ctr"/>
                      <a:r>
                        <a:rPr lang="en-IN" dirty="0"/>
                        <a:t>Pubudu N. Pathirana, Aruna Seneviratne</a:t>
                      </a:r>
                    </a:p>
                  </a:txBody>
                  <a:tcPr anchor="ctr"/>
                </a:tc>
                <a:tc>
                  <a:txBody>
                    <a:bodyPr/>
                    <a:lstStyle/>
                    <a:p>
                      <a:r>
                        <a:rPr lang="en-IN" dirty="0"/>
                        <a:t>Explainable AI Frameworks</a:t>
                      </a:r>
                    </a:p>
                  </a:txBody>
                  <a:tcPr/>
                </a:tc>
                <a:extLst>
                  <a:ext uri="{0D108BD9-81ED-4DB2-BD59-A6C34878D82A}">
                    <a16:rowId xmlns:a16="http://schemas.microsoft.com/office/drawing/2014/main" val="2759713615"/>
                  </a:ext>
                </a:extLst>
              </a:tr>
            </a:tbl>
          </a:graphicData>
        </a:graphic>
      </p:graphicFrame>
      <p:sp>
        <p:nvSpPr>
          <p:cNvPr id="5" name="Footer Placeholder 4">
            <a:extLst>
              <a:ext uri="{FF2B5EF4-FFF2-40B4-BE49-F238E27FC236}">
                <a16:creationId xmlns:a16="http://schemas.microsoft.com/office/drawing/2014/main" id="{1B883424-B635-4198-810C-92D50E39AF1D}"/>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80843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4C7A-54D8-44AC-8481-E79F9A0AB8BB}"/>
              </a:ext>
            </a:extLst>
          </p:cNvPr>
          <p:cNvSpPr>
            <a:spLocks noGrp="1"/>
          </p:cNvSpPr>
          <p:nvPr>
            <p:ph type="title"/>
          </p:nvPr>
        </p:nvSpPr>
        <p:spPr/>
        <p:txBody>
          <a:bodyPr/>
          <a:lstStyle/>
          <a:p>
            <a:pPr algn="ctr"/>
            <a:r>
              <a:rPr lang="en-US" b="1" dirty="0">
                <a:solidFill>
                  <a:schemeClr val="accent1">
                    <a:lumMod val="50000"/>
                  </a:schemeClr>
                </a:solidFill>
              </a:rPr>
              <a:t>EXISTING SYSTEM</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1CB5B631-2B4C-4BA3-8942-6B33D4775DF9}"/>
              </a:ext>
            </a:extLst>
          </p:cNvPr>
          <p:cNvSpPr>
            <a:spLocks noGrp="1"/>
          </p:cNvSpPr>
          <p:nvPr>
            <p:ph idx="1"/>
          </p:nvPr>
        </p:nvSpPr>
        <p:spPr/>
        <p:txBody>
          <a:bodyPr/>
          <a:lstStyle/>
          <a:p>
            <a:r>
              <a:rPr lang="en-GB" dirty="0"/>
              <a:t>Performs diagnosis using predefined rules.</a:t>
            </a:r>
          </a:p>
          <a:p>
            <a:r>
              <a:rPr lang="en-IN" dirty="0"/>
              <a:t>Limited explanation for diagnosis.</a:t>
            </a:r>
          </a:p>
          <a:p>
            <a:r>
              <a:rPr lang="en-GB" dirty="0"/>
              <a:t>Usually supports only one inference technique.</a:t>
            </a:r>
          </a:p>
          <a:p>
            <a:r>
              <a:rPr lang="en-GB" dirty="0"/>
              <a:t>Difficult to update the knowledge base.</a:t>
            </a:r>
          </a:p>
          <a:p>
            <a:r>
              <a:rPr lang="en-GB" dirty="0"/>
              <a:t>Cannot detect contradictory symptom combinations.</a:t>
            </a:r>
          </a:p>
          <a:p>
            <a:r>
              <a:rPr lang="en-GB" dirty="0"/>
              <a:t>Minimal comparison of reasoning methods.</a:t>
            </a:r>
          </a:p>
          <a:p>
            <a:r>
              <a:rPr lang="en-IN" dirty="0"/>
              <a:t>Limited user interaction.</a:t>
            </a:r>
          </a:p>
        </p:txBody>
      </p:sp>
      <p:sp>
        <p:nvSpPr>
          <p:cNvPr id="4" name="Footer Placeholder 3">
            <a:extLst>
              <a:ext uri="{FF2B5EF4-FFF2-40B4-BE49-F238E27FC236}">
                <a16:creationId xmlns:a16="http://schemas.microsoft.com/office/drawing/2014/main" id="{9E2DA2FF-5972-46F4-AABC-25976B756840}"/>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262058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2F28B-DC07-4D8C-925B-B394652D503D}"/>
              </a:ext>
            </a:extLst>
          </p:cNvPr>
          <p:cNvSpPr>
            <a:spLocks noGrp="1"/>
          </p:cNvSpPr>
          <p:nvPr>
            <p:ph type="title"/>
          </p:nvPr>
        </p:nvSpPr>
        <p:spPr/>
        <p:txBody>
          <a:bodyPr/>
          <a:lstStyle/>
          <a:p>
            <a:pPr algn="ctr"/>
            <a:r>
              <a:rPr lang="en-US" b="1" dirty="0">
                <a:solidFill>
                  <a:schemeClr val="accent1">
                    <a:lumMod val="50000"/>
                  </a:schemeClr>
                </a:solidFill>
              </a:rPr>
              <a:t>PROPOSED SYSTEM</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BCA172C8-9EE9-4B51-8A7A-63583EB3DAEF}"/>
              </a:ext>
            </a:extLst>
          </p:cNvPr>
          <p:cNvSpPr>
            <a:spLocks noGrp="1"/>
          </p:cNvSpPr>
          <p:nvPr>
            <p:ph idx="1"/>
          </p:nvPr>
        </p:nvSpPr>
        <p:spPr/>
        <p:txBody>
          <a:bodyPr/>
          <a:lstStyle/>
          <a:p>
            <a:r>
              <a:rPr lang="en-GB" dirty="0"/>
              <a:t>The proposed system is an explainable medical expert system that diagnoses diseases using rule-based reasoning. </a:t>
            </a:r>
          </a:p>
          <a:p>
            <a:r>
              <a:rPr lang="en-GB" dirty="0"/>
              <a:t>The user enters symptoms through a graphical interface, and the inference engine applies Forward Chaining, Backward Chaining, and logical reasoning to determine possible diseases. </a:t>
            </a:r>
          </a:p>
          <a:p>
            <a:r>
              <a:rPr lang="en-GB" dirty="0"/>
              <a:t>The system displays the reasoning steps, rules fired, and treatment suggestions. </a:t>
            </a:r>
          </a:p>
          <a:p>
            <a:r>
              <a:rPr lang="en-GB" dirty="0"/>
              <a:t>It also supports easy rule addition and validates inconsistent symptom combinations using logical resolution.</a:t>
            </a:r>
            <a:endParaRPr lang="en-IN" dirty="0"/>
          </a:p>
        </p:txBody>
      </p:sp>
      <p:sp>
        <p:nvSpPr>
          <p:cNvPr id="4" name="Footer Placeholder 3">
            <a:extLst>
              <a:ext uri="{FF2B5EF4-FFF2-40B4-BE49-F238E27FC236}">
                <a16:creationId xmlns:a16="http://schemas.microsoft.com/office/drawing/2014/main" id="{5255CFC0-E255-4A4E-B66F-160696CEF4E8}"/>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8545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D9B68-97AE-4226-8DFD-BC9913C5FEFB}"/>
              </a:ext>
            </a:extLst>
          </p:cNvPr>
          <p:cNvSpPr>
            <a:spLocks noGrp="1"/>
          </p:cNvSpPr>
          <p:nvPr>
            <p:ph type="title"/>
          </p:nvPr>
        </p:nvSpPr>
        <p:spPr/>
        <p:txBody>
          <a:bodyPr/>
          <a:lstStyle/>
          <a:p>
            <a:pPr algn="ctr"/>
            <a:r>
              <a:rPr lang="en-US" spc="-1" dirty="0">
                <a:solidFill>
                  <a:schemeClr val="accent1">
                    <a:lumMod val="50000"/>
                  </a:schemeClr>
                </a:solidFill>
                <a:latin typeface="Times New Roman"/>
              </a:rPr>
              <a:t>Novelty in Proposed System</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37167FFA-CAE8-419B-8A9F-2AE13407034A}"/>
              </a:ext>
            </a:extLst>
          </p:cNvPr>
          <p:cNvSpPr>
            <a:spLocks noGrp="1"/>
          </p:cNvSpPr>
          <p:nvPr>
            <p:ph idx="1"/>
          </p:nvPr>
        </p:nvSpPr>
        <p:spPr/>
        <p:txBody>
          <a:bodyPr/>
          <a:lstStyle/>
          <a:p>
            <a:r>
              <a:rPr lang="en-GB" dirty="0"/>
              <a:t>Explainable diagnosis with reasoning trace.</a:t>
            </a:r>
          </a:p>
          <a:p>
            <a:r>
              <a:rPr lang="en-GB" dirty="0"/>
              <a:t>Comparison of Forward and Backward Chaining.</a:t>
            </a:r>
          </a:p>
          <a:p>
            <a:r>
              <a:rPr lang="en-IN" dirty="0"/>
              <a:t>Resolution-based contradiction detection.</a:t>
            </a:r>
          </a:p>
          <a:p>
            <a:r>
              <a:rPr lang="en-GB" dirty="0"/>
              <a:t>Easy expansion of the medical knowledge base.</a:t>
            </a:r>
          </a:p>
          <a:p>
            <a:r>
              <a:rPr lang="en-IN" dirty="0"/>
              <a:t>Transparent rule-based treatment recommendations.</a:t>
            </a:r>
          </a:p>
          <a:p>
            <a:r>
              <a:rPr lang="en-GB" dirty="0"/>
              <a:t>No Machine Learning or Deep Learning required.</a:t>
            </a:r>
          </a:p>
          <a:p>
            <a:r>
              <a:rPr lang="en-GB" dirty="0"/>
              <a:t>Fully based on Classical Artificial Intelligence concepts.</a:t>
            </a:r>
            <a:endParaRPr lang="en-IN" dirty="0"/>
          </a:p>
        </p:txBody>
      </p:sp>
      <p:sp>
        <p:nvSpPr>
          <p:cNvPr id="4" name="Footer Placeholder 3">
            <a:extLst>
              <a:ext uri="{FF2B5EF4-FFF2-40B4-BE49-F238E27FC236}">
                <a16:creationId xmlns:a16="http://schemas.microsoft.com/office/drawing/2014/main" id="{269D1BA5-F138-46F4-BDD0-6FDDA78C082C}"/>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03244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72CB-375E-42B3-BAD3-3348ABA4F8F5}"/>
              </a:ext>
            </a:extLst>
          </p:cNvPr>
          <p:cNvSpPr>
            <a:spLocks noGrp="1"/>
          </p:cNvSpPr>
          <p:nvPr>
            <p:ph type="title"/>
          </p:nvPr>
        </p:nvSpPr>
        <p:spPr/>
        <p:txBody>
          <a:bodyPr/>
          <a:lstStyle/>
          <a:p>
            <a:pPr algn="ctr"/>
            <a:r>
              <a:rPr lang="en-US" b="1" dirty="0">
                <a:solidFill>
                  <a:schemeClr val="accent1">
                    <a:lumMod val="50000"/>
                  </a:schemeClr>
                </a:solidFill>
              </a:rPr>
              <a:t>BLOCK DIAGRAM(PROPOSED SYSTEM)</a:t>
            </a:r>
            <a:endParaRPr lang="en-IN" b="1" dirty="0">
              <a:solidFill>
                <a:schemeClr val="accent1">
                  <a:lumMod val="50000"/>
                </a:schemeClr>
              </a:solidFill>
            </a:endParaRPr>
          </a:p>
        </p:txBody>
      </p:sp>
      <p:pic>
        <p:nvPicPr>
          <p:cNvPr id="5" name="Content Placeholder 4"/>
          <p:cNvPicPr>
            <a:picLocks noGrp="1" noChangeAspect="1"/>
          </p:cNvPicPr>
          <p:nvPr>
            <p:ph idx="1"/>
          </p:nvPr>
        </p:nvPicPr>
        <p:blipFill>
          <a:blip r:embed="rId2"/>
          <a:stretch>
            <a:fillRect/>
          </a:stretch>
        </p:blipFill>
        <p:spPr>
          <a:xfrm>
            <a:off x="3673642" y="1352214"/>
            <a:ext cx="4507832" cy="4820323"/>
          </a:xfrm>
          <a:prstGeom prst="rect">
            <a:avLst/>
          </a:prstGeom>
        </p:spPr>
      </p:pic>
      <p:sp>
        <p:nvSpPr>
          <p:cNvPr id="4" name="Footer Placeholder 3">
            <a:extLst>
              <a:ext uri="{FF2B5EF4-FFF2-40B4-BE49-F238E27FC236}">
                <a16:creationId xmlns:a16="http://schemas.microsoft.com/office/drawing/2014/main" id="{93D343F2-D48F-4E59-8D97-DA60556C44C7}"/>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353434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CEDF5-B9F7-4B91-858D-BB211B1C5149}"/>
              </a:ext>
            </a:extLst>
          </p:cNvPr>
          <p:cNvSpPr>
            <a:spLocks noGrp="1"/>
          </p:cNvSpPr>
          <p:nvPr>
            <p:ph type="title"/>
          </p:nvPr>
        </p:nvSpPr>
        <p:spPr/>
        <p:txBody>
          <a:bodyPr/>
          <a:lstStyle/>
          <a:p>
            <a:pPr algn="ctr"/>
            <a:r>
              <a:rPr lang="en-US" b="1" dirty="0">
                <a:solidFill>
                  <a:schemeClr val="accent1">
                    <a:lumMod val="50000"/>
                  </a:schemeClr>
                </a:solidFill>
              </a:rPr>
              <a:t>Hardware/Software Requirements</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51030061-1822-407B-A876-DADB7600B190}"/>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sz="2000" dirty="0"/>
              <a:t>Hardware Requirement:</a:t>
            </a:r>
          </a:p>
          <a:p>
            <a:pPr>
              <a:buFont typeface="Wingdings" panose="05000000000000000000" pitchFamily="2" charset="2"/>
              <a:buChar char="§"/>
            </a:pPr>
            <a:r>
              <a:rPr lang="en-GB" sz="2000" dirty="0"/>
              <a:t>Processor: Intel Core i3 or above</a:t>
            </a:r>
          </a:p>
          <a:p>
            <a:pPr>
              <a:buFont typeface="Wingdings" panose="05000000000000000000" pitchFamily="2" charset="2"/>
              <a:buChar char="§"/>
            </a:pPr>
            <a:r>
              <a:rPr lang="en-GB" sz="2000" dirty="0"/>
              <a:t>RAM: 4 GB minimum (8 GB recommended)</a:t>
            </a:r>
          </a:p>
          <a:p>
            <a:pPr>
              <a:buFont typeface="Wingdings" panose="05000000000000000000" pitchFamily="2" charset="2"/>
              <a:buChar char="§"/>
            </a:pPr>
            <a:r>
              <a:rPr lang="en-GB" sz="2000" dirty="0"/>
              <a:t>Storage: 500 MB free space</a:t>
            </a:r>
          </a:p>
          <a:p>
            <a:pPr>
              <a:buFont typeface="Wingdings" panose="05000000000000000000" pitchFamily="2" charset="2"/>
              <a:buChar char="§"/>
            </a:pPr>
            <a:r>
              <a:rPr lang="en-GB" sz="2000" dirty="0"/>
              <a:t>Monitor: 1366 × 768 resolution or higher</a:t>
            </a:r>
          </a:p>
          <a:p>
            <a:pPr>
              <a:buFont typeface="Wingdings" panose="05000000000000000000" pitchFamily="2" charset="2"/>
              <a:buChar char="q"/>
            </a:pPr>
            <a:r>
              <a:rPr lang="en-US" sz="2000" dirty="0"/>
              <a:t>Software Requirement:</a:t>
            </a:r>
          </a:p>
          <a:p>
            <a:pPr>
              <a:buFont typeface="Wingdings" panose="05000000000000000000" pitchFamily="2" charset="2"/>
              <a:buChar char="§"/>
            </a:pPr>
            <a:r>
              <a:rPr lang="en-GB" sz="2000" dirty="0"/>
              <a:t>Operating System: Windows 10/11 or Linux</a:t>
            </a:r>
          </a:p>
          <a:p>
            <a:pPr>
              <a:buFont typeface="Wingdings" panose="05000000000000000000" pitchFamily="2" charset="2"/>
              <a:buChar char="§"/>
            </a:pPr>
            <a:r>
              <a:rPr lang="en-IN" sz="2000" dirty="0"/>
              <a:t>Python 3.12+</a:t>
            </a:r>
          </a:p>
          <a:p>
            <a:pPr>
              <a:buFont typeface="Wingdings" panose="05000000000000000000" pitchFamily="2" charset="2"/>
              <a:buChar char="§"/>
            </a:pPr>
            <a:r>
              <a:rPr lang="en-IN" sz="2000" dirty="0"/>
              <a:t>Visual Studio Code</a:t>
            </a:r>
          </a:p>
          <a:p>
            <a:pPr>
              <a:buFont typeface="Wingdings" panose="05000000000000000000" pitchFamily="2" charset="2"/>
              <a:buChar char="§"/>
            </a:pPr>
            <a:r>
              <a:rPr lang="en-IN" sz="2000" dirty="0"/>
              <a:t>Tkinter</a:t>
            </a:r>
          </a:p>
          <a:p>
            <a:pPr>
              <a:buFont typeface="Wingdings" panose="05000000000000000000" pitchFamily="2" charset="2"/>
              <a:buChar char="§"/>
            </a:pPr>
            <a:r>
              <a:rPr lang="en-IN" sz="2000" dirty="0"/>
              <a:t>SQLite / JSON</a:t>
            </a:r>
          </a:p>
          <a:p>
            <a:pPr>
              <a:buFont typeface="Wingdings" panose="05000000000000000000" pitchFamily="2" charset="2"/>
              <a:buChar char="§"/>
            </a:pPr>
            <a:r>
              <a:rPr lang="en-IN" sz="2000" dirty="0"/>
              <a:t>GitHub</a:t>
            </a:r>
          </a:p>
          <a:p>
            <a:pPr>
              <a:buFont typeface="Wingdings" panose="05000000000000000000" pitchFamily="2" charset="2"/>
              <a:buChar char="§"/>
            </a:pPr>
            <a:r>
              <a:rPr lang="en-IN" sz="2000" dirty="0"/>
              <a:t>Draw.io</a:t>
            </a:r>
            <a:endParaRPr lang="en-US" sz="2000" dirty="0"/>
          </a:p>
        </p:txBody>
      </p:sp>
      <p:sp>
        <p:nvSpPr>
          <p:cNvPr id="4" name="Footer Placeholder 3">
            <a:extLst>
              <a:ext uri="{FF2B5EF4-FFF2-40B4-BE49-F238E27FC236}">
                <a16:creationId xmlns:a16="http://schemas.microsoft.com/office/drawing/2014/main" id="{9EDB36B0-5247-44F3-9298-2B524976B6D3}"/>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3081286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855B-EB5E-4D53-95D3-8E1DF5D65A1F}"/>
              </a:ext>
            </a:extLst>
          </p:cNvPr>
          <p:cNvSpPr>
            <a:spLocks noGrp="1"/>
          </p:cNvSpPr>
          <p:nvPr>
            <p:ph type="title"/>
          </p:nvPr>
        </p:nvSpPr>
        <p:spPr/>
        <p:txBody>
          <a:bodyPr/>
          <a:lstStyle/>
          <a:p>
            <a:pPr algn="ctr"/>
            <a:r>
              <a:rPr lang="en-US" spc="-1" dirty="0">
                <a:solidFill>
                  <a:schemeClr val="accent1">
                    <a:lumMod val="50000"/>
                  </a:schemeClr>
                </a:solidFill>
                <a:latin typeface="Times New Roman"/>
              </a:rPr>
              <a:t>References</a:t>
            </a:r>
            <a:endParaRPr lang="en-IN" dirty="0">
              <a:solidFill>
                <a:schemeClr val="accent1">
                  <a:lumMod val="50000"/>
                </a:schemeClr>
              </a:solidFill>
            </a:endParaRPr>
          </a:p>
        </p:txBody>
      </p:sp>
      <p:sp>
        <p:nvSpPr>
          <p:cNvPr id="4" name="Footer Placeholder 3">
            <a:extLst>
              <a:ext uri="{FF2B5EF4-FFF2-40B4-BE49-F238E27FC236}">
                <a16:creationId xmlns:a16="http://schemas.microsoft.com/office/drawing/2014/main" id="{D2376813-C5D5-412F-BEE4-270486186E5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Content Placeholder 4"/>
          <p:cNvSpPr>
            <a:spLocks noGrp="1"/>
          </p:cNvSpPr>
          <p:nvPr>
            <p:ph idx="1"/>
          </p:nvPr>
        </p:nvSpPr>
        <p:spPr/>
        <p:txBody>
          <a:bodyPr>
            <a:normAutofit fontScale="77500" lnSpcReduction="20000"/>
          </a:bodyPr>
          <a:lstStyle/>
          <a:p>
            <a:pPr marL="0" indent="0">
              <a:buNone/>
            </a:pPr>
            <a:r>
              <a:rPr lang="en-GB" b="1" dirty="0"/>
              <a:t>Journals</a:t>
            </a:r>
            <a:endParaRPr lang="en-IN" b="1" dirty="0"/>
          </a:p>
          <a:p>
            <a:r>
              <a:rPr lang="en-IN" dirty="0"/>
              <a:t>Shortliffe, E. H. (1976). Computer-based medical consultations: MYCIN. Elsevier Science.</a:t>
            </a:r>
          </a:p>
          <a:p>
            <a:r>
              <a:rPr lang="en-IN" dirty="0"/>
              <a:t>Mustafa, E. M., </a:t>
            </a:r>
            <a:r>
              <a:rPr lang="en-IN" dirty="0" err="1"/>
              <a:t>Saad</a:t>
            </a:r>
            <a:r>
              <a:rPr lang="en-IN" dirty="0"/>
              <a:t>, M. M., &amp; </a:t>
            </a:r>
            <a:r>
              <a:rPr lang="en-IN" dirty="0" err="1"/>
              <a:t>Rizkallah</a:t>
            </a:r>
            <a:r>
              <a:rPr lang="en-IN" dirty="0"/>
              <a:t>, L. W. (2023). Building an enhanced case-based reasoning and rule-based systems for medical diagnosis. Journal of Engineering and Applied Science, 70(139). </a:t>
            </a:r>
            <a:r>
              <a:rPr lang="en-IN" dirty="0">
                <a:hlinkClick r:id="rId2"/>
              </a:rPr>
              <a:t>https://doi.org/10.1186/s44147-023-00315-4</a:t>
            </a:r>
            <a:endParaRPr lang="en-IN" dirty="0"/>
          </a:p>
          <a:p>
            <a:r>
              <a:rPr lang="en-IN" dirty="0" err="1"/>
              <a:t>Atim</a:t>
            </a:r>
            <a:r>
              <a:rPr lang="en-IN" dirty="0"/>
              <a:t>, S. B., &amp; Ibrahim, M. Y. I. (2025). Rule-based expert system model with backward chaining algorithm for symptom-based skin disease diagnosis. </a:t>
            </a:r>
            <a:r>
              <a:rPr lang="en-IN" dirty="0" err="1"/>
              <a:t>Jurnal</a:t>
            </a:r>
            <a:r>
              <a:rPr lang="en-IN" dirty="0"/>
              <a:t> </a:t>
            </a:r>
            <a:r>
              <a:rPr lang="en-IN" dirty="0" err="1"/>
              <a:t>Teknologi</a:t>
            </a:r>
            <a:r>
              <a:rPr lang="en-IN" dirty="0"/>
              <a:t> and Open Source, 8(1). </a:t>
            </a:r>
            <a:r>
              <a:rPr lang="en-IN" dirty="0">
                <a:hlinkClick r:id="rId3"/>
              </a:rPr>
              <a:t>https://doi.org/10.36378/jtos.v8i1.4416</a:t>
            </a:r>
            <a:endParaRPr lang="en-IN" dirty="0"/>
          </a:p>
          <a:p>
            <a:pPr marL="0" indent="0">
              <a:buNone/>
            </a:pPr>
            <a:r>
              <a:rPr lang="en-GB" b="1" dirty="0"/>
              <a:t>Websites</a:t>
            </a:r>
          </a:p>
          <a:p>
            <a:pPr>
              <a:buFont typeface="Wingdings" panose="05000000000000000000" pitchFamily="2" charset="2"/>
              <a:buChar char="§"/>
            </a:pPr>
            <a:r>
              <a:rPr lang="en-IN" dirty="0">
                <a:hlinkClick r:id="rId4"/>
              </a:rPr>
              <a:t>https://docs.python.org/</a:t>
            </a:r>
            <a:endParaRPr lang="en-IN" dirty="0"/>
          </a:p>
          <a:p>
            <a:pPr>
              <a:buFont typeface="Wingdings" panose="05000000000000000000" pitchFamily="2" charset="2"/>
              <a:buChar char="§"/>
            </a:pPr>
            <a:r>
              <a:rPr lang="en-IN" dirty="0">
                <a:hlinkClick r:id="rId5"/>
              </a:rPr>
              <a:t>https://www.sqlite.org/</a:t>
            </a:r>
            <a:endParaRPr lang="en-IN" dirty="0"/>
          </a:p>
          <a:p>
            <a:pPr>
              <a:buFont typeface="Wingdings" panose="05000000000000000000" pitchFamily="2" charset="2"/>
              <a:buChar char="§"/>
            </a:pPr>
            <a:r>
              <a:rPr lang="en-IN" dirty="0">
                <a:hlinkClick r:id="rId6"/>
              </a:rPr>
              <a:t>https://www.who.int/</a:t>
            </a:r>
            <a:endParaRPr lang="en-IN" dirty="0"/>
          </a:p>
          <a:p>
            <a:pPr marL="0" indent="0">
              <a:buNone/>
            </a:pPr>
            <a:endParaRPr lang="en-IN" dirty="0"/>
          </a:p>
          <a:p>
            <a:pPr>
              <a:buFont typeface="Wingdings" panose="05000000000000000000" pitchFamily="2" charset="2"/>
              <a:buChar char="§"/>
            </a:pPr>
            <a:endParaRPr lang="en-IN" dirty="0"/>
          </a:p>
          <a:p>
            <a:endParaRPr lang="en-IN" dirty="0"/>
          </a:p>
        </p:txBody>
      </p:sp>
    </p:spTree>
    <p:extLst>
      <p:ext uri="{BB962C8B-B14F-4D97-AF65-F5344CB8AC3E}">
        <p14:creationId xmlns:p14="http://schemas.microsoft.com/office/powerpoint/2010/main" val="109157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883</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PowerPoint Presentation</vt:lpstr>
      <vt:lpstr>PowerPoint Presentation</vt:lpstr>
      <vt:lpstr>OUTLINE</vt:lpstr>
      <vt:lpstr>ABSTRACT</vt:lpstr>
      <vt:lpstr>OBJECTIVE</vt:lpstr>
      <vt:lpstr>Literature Survey</vt:lpstr>
      <vt:lpstr>EXISTING SYSTEM</vt:lpstr>
      <vt:lpstr>PROPOSED SYSTEM</vt:lpstr>
      <vt:lpstr>Novelty in Proposed System</vt:lpstr>
      <vt:lpstr>BLOCK DIAGRAM(PROPOSED SYSTEM)</vt:lpstr>
      <vt:lpstr>Hardware/Software Requirements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Nishanth</cp:lastModifiedBy>
  <cp:revision>22</cp:revision>
  <dcterms:created xsi:type="dcterms:W3CDTF">2026-07-28T13:30:13Z</dcterms:created>
  <dcterms:modified xsi:type="dcterms:W3CDTF">2026-10-20T04:44:23Z</dcterms:modified>
</cp:coreProperties>
</file>