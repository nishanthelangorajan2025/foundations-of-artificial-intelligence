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identity and academic year: first_review_ppt.pptx, slide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first_review_ppt.pptx, relevant requirements, technology, module, expected-result and progress slides. Proposed design and earlier progress do not establish later implementation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first_review_ppt.pptx, relevant requirements, technology, module, expected-result and progress slides. Proposed design and earlier progress do not establish later implementation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Last confirmed status: first_review_ppt.pptx, slide 15, Review 1 dated 17 September 2026. Post-review implementation status requires the project team’s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https://www.shortliffe.net/Shortliffe-1976/MYCIN%20thesis%20Book.htm</a:t>
            </a:r>
          </a:p>
          <a:p>
            <a:r>
              <a:t>https://doi.org/10.1186/s44147-023-00315-4</a:t>
            </a:r>
          </a:p>
          <a:p>
            <a:r>
              <a:t>https://doi.org/10.36378/jtos.v8i1.4416</a:t>
            </a:r>
          </a:p>
          <a:p>
            <a:r>
              <a:t>Limitations for the Mustafa paper describe the difference in project scope, not an assertion that the study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https://www.ijmlc.org/vol5/492-A14.pdf</a:t>
            </a:r>
          </a:p>
          <a:p>
            <a:r>
              <a:t>https://doi.org/10.1007/s12553-022-00672-9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gap is a project-level synthesis of references on slides 5–6. No claim that the proposed combination is globally novel. Progress source: first_review_ppt.pptx, slide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Proposed design based on first_review_ppt.pptx, slides 8–9 and 12. Components are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Proposed Level 0 DFD synthesized from first_review_ppt.pptx, slides 8, 9 and 12. External entities: User and Administrator. Process: MEDIXAI. Data store: knowledge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Proposed workflows based on first_review_ppt.pptx, slides 8 and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first_review_ppt.pptx, relevant requirements, technology, module, expected-result and progress slides. Proposed design and earlier progress do not establish later implementation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first_review_ppt.pptx, relevant requirements, technology, module, expected-result and progress slides. Proposed design and earlier progress do not establish later implementation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first_review_ppt.pptx, relevant requirements, technology, module, expected-result and progress slides. Proposed design and earlier progress do not establish later implementation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first_review_ppt.pptx, relevant requirements, technology, module, expected-result and progress slides. Proposed design and earlier progress do not establish later implementation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first_review_ppt.pptx, relevant requirements, technology, module, expected-result and progress slides. Proposed design and earlier progress do not establish later implementation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first_review_ppt.pptx, relevant requirements, technology, module, expected-result and progress slides. Proposed design and earlier progress do not establish later implementation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Design challenges and planned responses synthesized from first_review_ppt.pptx, slides 3, 8 and 16. These are not claimed as resolved implementation incidents.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Four-week schedule is a proposed plan, not a confirmed institutional deadline. Disease-count target is from first_review_ppt.pptx, slide 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Reference URLs: https://www.shortliffe.net/Shortliffe-1976/MYCIN%20thesis%20Book.htm</a:t>
            </a:r>
          </a:p>
          <a:p>
            <a:r>
              <a:t>https://doi.org/10.1186/s44147-023-00315-4</a:t>
            </a:r>
          </a:p>
          <a:p>
            <a:r>
              <a:t>https://doi.org/10.36378/jtos.v8i1.4416</a:t>
            </a:r>
          </a:p>
          <a:p>
            <a:r>
              <a:t>https://www.ijmlc.org/vol5/492-A14.pdf</a:t>
            </a:r>
          </a:p>
          <a:p>
            <a:r>
              <a:t>https://doi.org/10.1007/s12553-022-00672-9</a:t>
            </a:r>
          </a:p>
          <a:p>
            <a:r>
              <a:t>https://docs.python.org/</a:t>
            </a:r>
          </a:p>
          <a:p>
            <a:r>
              <a:t>https://www.sqlite.org/docs.html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>
            <a:spLocks noGrp="1"/>
          </p:cNvSpPr>
          <p:nvPr/>
        </p:nvSpPr>
        <p:spPr>
          <a:xfrm>
            <a:off x="789712" y="2530618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2400" b="1">
                <a:solidFill>
                  <a:srgbClr val="7030A0"/>
                </a:solidFill>
                <a:latin typeface="Verdana"/>
                <a:ea typeface="Verdana"/>
                <a:cs typeface="Verdana"/>
              </a:defRPr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defRPr sz="2400" b="1">
                <a:solidFill>
                  <a:srgbClr val="7030A0"/>
                </a:solidFill>
                <a:latin typeface="Verdana"/>
                <a:ea typeface="Verdana"/>
                <a:cs typeface="Verdana"/>
              </a:defRPr>
            </a:pPr>
            <a:r>
              <a:rPr sz="2400" b="1">
                <a:solidFill>
                  <a:srgbClr val="7030A0"/>
                </a:solidFill>
                <a:latin typeface="Verdana"/>
                <a:ea typeface="Verdana"/>
                <a:cs typeface="Verdana"/>
              </a:rPr>
              <a:t>MEDIXAI – REVIEW 2</a:t>
            </a:r>
          </a:p>
          <a:p>
            <a:pPr algn="ctr">
              <a:defRPr sz="2400" b="1">
                <a:solidFill>
                  <a:srgbClr val="7030A0"/>
                </a:solidFill>
                <a:latin typeface="Verdana"/>
                <a:ea typeface="Verdana"/>
                <a:cs typeface="Verdana"/>
              </a:defRPr>
            </a:pPr>
            <a:r>
              <a:rPr sz="2400" b="1">
                <a:solidFill>
                  <a:srgbClr val="7030A0"/>
                </a:solidFill>
                <a:latin typeface="Verdana"/>
                <a:ea typeface="Verdana"/>
                <a:cs typeface="Verdana"/>
              </a:rPr>
              <a:t>Explainable AI-Based Medical Expert System</a:t>
            </a:r>
          </a:p>
          <a:p>
            <a:pPr algn="ctr">
              <a:defRPr sz="2400" b="1">
                <a:solidFill>
                  <a:srgbClr val="7030A0"/>
                </a:solidFill>
                <a:latin typeface="Verdana"/>
                <a:ea typeface="Verdana"/>
                <a:cs typeface="Verdana"/>
              </a:defRPr>
            </a:pPr>
            <a:r>
              <a:rPr sz="2400" b="1">
                <a:solidFill>
                  <a:srgbClr val="7030A0"/>
                </a:solidFill>
                <a:latin typeface="Verdana"/>
                <a:ea typeface="Verdana"/>
                <a:cs typeface="Verdana"/>
              </a:rPr>
              <a:t>Using Rule-Based Reasoning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D19DAE3-8F95-230C-D485-225341D07DA1}"/>
              </a:ext>
            </a:extLst>
          </p:cNvPr>
          <p:cNvSpPr>
            <a:spLocks noGrp="1"/>
          </p:cNvSpPr>
          <p:nvPr/>
        </p:nvSpPr>
        <p:spPr>
          <a:xfrm>
            <a:off x="962889" y="5183902"/>
            <a:ext cx="3429000" cy="960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defPPr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defPPr>
            <a:lvl1pPr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3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6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23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5pPr>
            <a:lvl6pPr marL="25146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6pPr>
            <a:lvl7pPr marL="29718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7pPr>
            <a:lvl8pPr marL="34290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8pPr>
            <a:lvl9pPr marL="38862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pPr>
            <a:r>
              <a:rPr sz="1900" b="1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Supervisor</a:t>
            </a:r>
          </a:p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pPr>
            <a:r>
              <a:rPr lang="en-US" sz="1900" b="1" dirty="0">
                <a:solidFill>
                  <a:srgbClr val="FF0000"/>
                </a:solidFill>
              </a:rPr>
              <a:t>Dr. </a:t>
            </a:r>
            <a:r>
              <a:rPr lang="en-US" sz="1900" b="1" dirty="0" err="1">
                <a:solidFill>
                  <a:srgbClr val="FF0000"/>
                </a:solidFill>
              </a:rPr>
              <a:t>Bhuvana</a:t>
            </a:r>
            <a:r>
              <a:rPr lang="en-US" sz="1900" b="1" dirty="0">
                <a:solidFill>
                  <a:srgbClr val="FF0000"/>
                </a:solidFill>
              </a:rPr>
              <a:t> S</a:t>
            </a:r>
            <a:endParaRPr sz="1900" b="1" dirty="0">
              <a:solidFill>
                <a:srgbClr val="FF0000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>
            <a:spLocks noGrp="1"/>
          </p:cNvSpPr>
          <p:nvPr/>
        </p:nvSpPr>
        <p:spPr>
          <a:xfrm>
            <a:off x="6210299" y="5183902"/>
            <a:ext cx="5457825" cy="960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defPPr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defPPr>
            <a:lvl1pPr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3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6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23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5pPr>
            <a:lvl6pPr marL="25146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6pPr>
            <a:lvl7pPr marL="29718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7pPr>
            <a:lvl8pPr marL="34290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8pPr>
            <a:lvl9pPr marL="38862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pPr>
            <a:r>
              <a:rPr sz="1900" b="1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Presented by</a:t>
            </a:r>
          </a:p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pPr>
            <a:r>
              <a:rPr lang="en-US" sz="1900" b="1" dirty="0">
                <a:solidFill>
                  <a:srgbClr val="FF0000"/>
                </a:solidFill>
              </a:rPr>
              <a:t>Naveen Raj P			241901070</a:t>
            </a:r>
          </a:p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pPr>
            <a:r>
              <a:rPr lang="en-US" sz="1900" b="1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Nishanth </a:t>
            </a:r>
            <a:r>
              <a:rPr lang="en-US" sz="1900" b="1" dirty="0" err="1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E</a:t>
            </a:r>
            <a:r>
              <a:rPr lang="en-US" sz="1900" b="1" dirty="0" err="1">
                <a:solidFill>
                  <a:srgbClr val="FF0000"/>
                </a:solidFill>
              </a:rPr>
              <a:t>lango</a:t>
            </a:r>
            <a:r>
              <a:rPr lang="en-US" sz="1900" b="1" dirty="0">
                <a:solidFill>
                  <a:srgbClr val="FF0000"/>
                </a:solidFill>
              </a:rPr>
              <a:t> Rajan	241901075</a:t>
            </a:r>
            <a:endParaRPr sz="1900" b="1" dirty="0">
              <a:solidFill>
                <a:srgbClr val="FF0000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>
            <a:spLocks noGrp="1"/>
          </p:cNvSpPr>
          <p:nvPr/>
        </p:nvSpPr>
        <p:spPr>
          <a:xfrm>
            <a:off x="754333" y="980728"/>
            <a:ext cx="10515600" cy="722457"/>
          </a:xfrm>
          <a:prstGeom prst="rect">
            <a:avLst/>
          </a:prstGeom>
        </p:spPr>
        <p:txBody>
          <a:bodyPr vert="horz" lIns="91440" tIns="45720" rIns="91440" bIns="45720" anchor="ctr">
            <a:normAutofit fontScale="92500" lnSpcReduction="20000"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sz="2800" b="1">
                <a:solidFill>
                  <a:srgbClr val="002060"/>
                </a:solidFill>
                <a:latin typeface="Verdana"/>
                <a:ea typeface="Verdana"/>
                <a:cs typeface="Verdana"/>
              </a:rPr>
              <a:t>Department of Computer Science and Engineering</a:t>
            </a:r>
          </a:p>
          <a:p>
            <a:r>
              <a:rPr sz="2800" b="1">
                <a:solidFill>
                  <a:srgbClr val="002060"/>
                </a:solidFill>
                <a:latin typeface="Verdana"/>
                <a:ea typeface="Verdana"/>
                <a:cs typeface="Verdana"/>
              </a:rPr>
              <a:t>(Cyber Security)</a:t>
            </a:r>
          </a:p>
          <a:p>
            <a:endParaRPr sz="2800" b="1">
              <a:solidFill>
                <a:srgbClr val="002060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1A75FB-6B6B-43EA-AA56-17501DA049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2933065" cy="980728"/>
          </a:xfrm>
          <a:prstGeom prst="rect">
            <a:avLst/>
          </a:prstGeom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03A2CF7-2CEB-4FAC-8CFE-D227F932C6E7}"/>
              </a:ext>
            </a:extLst>
          </p:cNvPr>
          <p:cNvSpPr>
            <a:spLocks noGrp="1"/>
          </p:cNvSpPr>
          <p:nvPr/>
        </p:nvSpPr>
        <p:spPr>
          <a:xfrm>
            <a:off x="1631504" y="1412776"/>
            <a:ext cx="10112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Verdana"/>
                <a:ea typeface="Verdana"/>
                <a:cs typeface="Verdana"/>
              </a:rPr>
              <a:t>CS23533– Foundations of Artificial Intelligence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1D1DF2-773C-43E9-B2DB-A882EBC4EA01}"/>
              </a:ext>
            </a:extLst>
          </p:cNvPr>
          <p:cNvSpPr>
            <a:spLocks noGrp="1"/>
          </p:cNvSpPr>
          <p:nvPr/>
        </p:nvSpPr>
        <p:spPr>
          <a:xfrm>
            <a:off x="4873101" y="1916832"/>
            <a:ext cx="1603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b="1">
                <a:solidFill>
                  <a:srgbClr val="002060"/>
                </a:solidFill>
                <a:latin typeface="Verdana"/>
                <a:ea typeface="Verdana"/>
                <a:cs typeface="Verdana"/>
              </a:rPr>
              <a:t>2026-2027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Problem Statement and Motivation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MEDIXAI addresses symptom-checking systems that provide limited reasoning explanations.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Fixed rule bases can be difficult to extend and may overlook contradictory symptom inputs.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The project supports students learning knowledge representation and expert-system reasoning.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Explicit rules, reasoning traces and an editable knowledge base make each suggested result easier to inspect.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Objectives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Represent knowledge as facts, IF–THEN rules and First-Order Logic.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Implement Forward / Backward Chaining and Resolution.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Rank possible diseases with weighted rules and explain matched or missing facts.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Compare rules checked, execution time and result consistency on the same test cases.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Review 1: scope and architecture defined. Coding status: [confirm].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9313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Project Progress Since Review 1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Review 1 baseline: literature survey and problem identification completed.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Classical-AI scope, core requirements and system architecture defined.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Initial disease categories and knowledge-base structure drafted.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Symptom dictionary and disease–symptom rule mapping were in progress.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Progress after 17 September 2026: [add completed work, current module status and supporting evidence].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4483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</a:pPr>
            <a:br>
              <a: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Verdana"/>
                <a:ea typeface="Verdana"/>
                <a:cs typeface="Verdana"/>
              </a:rPr>
            </a:br>
            <a:endParaRPr sz="2800" b="0" i="0" u="none" strike="noStrike" kern="0" cap="none" spc="0" baseline="0">
              <a:ln>
                <a:noFill/>
              </a:ln>
              <a:solidFill>
                <a:srgbClr val="000000"/>
              </a:solidFill>
              <a:latin typeface="Verdana"/>
              <a:ea typeface="Verdana"/>
              <a:cs typeface="Verdana"/>
            </a:endParaRPr>
          </a:p>
          <a:p>
            <a:pPr marL="0" indent="0">
              <a:buNone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5</a:t>
            </a:fld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341CD-8E71-40C6-98E4-0989FFE64802}"/>
              </a:ext>
            </a:extLst>
          </p:cNvPr>
          <p:cNvGraphicFramePr/>
          <p:nvPr/>
        </p:nvGraphicFramePr>
        <p:xfrm>
          <a:off x="623392" y="1752600"/>
          <a:ext cx="11089196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05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No.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E. H. Shortliffe</a:t>
                      </a:r>
                    </a:p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(1976)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Computer-Based Medical Consultations: MYCIN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Medical rules, consultation and explanation system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Focused infection domain. Expert knowledge requires manual acquisition.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2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Mustafa, Saad &amp; Rizkallah</a:t>
                      </a:r>
                    </a:p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(2023)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Building an enhanced case-based reasoning and rule-based systems for medical diagnosis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Case similarity and IF–THEN rules extracted from decision trees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Uses learned similarity or rules. MEDIXAI targets explicitly authored classical rules.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Atim &amp; Ibrahim</a:t>
                      </a:r>
                    </a:p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(2025)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Rule-Based Expert System Model with Backward Chaining Algorithm for Symptom-Based Skin Disease Diagnosis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Goal-driven backward chaining for skin disease symptoms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Partial or overlapping symptoms need more specific rules or certainty handling.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445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</a:pPr>
            <a:br>
              <a: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Verdana"/>
                <a:ea typeface="Verdana"/>
                <a:cs typeface="Verdana"/>
              </a:rPr>
            </a:br>
            <a:endParaRPr sz="2800" b="0" i="0" u="none" strike="noStrike" kern="0" cap="none" spc="0" baseline="0">
              <a:ln>
                <a:noFill/>
              </a:ln>
              <a:solidFill>
                <a:srgbClr val="000000"/>
              </a:solidFill>
              <a:latin typeface="Verdana"/>
              <a:ea typeface="Verdana"/>
              <a:cs typeface="Verdana"/>
            </a:endParaRPr>
          </a:p>
          <a:p>
            <a:pPr marL="0" indent="0">
              <a:buNone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6</a:t>
            </a:fld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F7CFF5-7922-49DB-AC84-739405470BD9}"/>
              </a:ext>
            </a:extLst>
          </p:cNvPr>
          <p:cNvGraphicFramePr/>
          <p:nvPr/>
        </p:nvGraphicFramePr>
        <p:xfrm>
          <a:off x="983432" y="1746251"/>
          <a:ext cx="10748296" cy="4000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77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No.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4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Al-Ajlan</a:t>
                      </a:r>
                    </a:p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(2015)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The Comparison between Forward and Backward Chaining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Compares data-driven and goal-driven reasoning for academic expert systems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Academic management context. Medical applicability needs separate evaluation.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6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  <a:endParaRPr sz="180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Papadopoulos et al.</a:t>
                      </a:r>
                    </a:p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(2022)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A systematic review of technologies and standards used in the development of rule-based clinical decision support systems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Reviews rule engines, standards and knowledge representation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Integration and interoperability remain challenges across heterogeneous systems.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195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 Research Gap and Project Response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7</a:t>
            </a:fld>
            <a:endParaRPr/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4FE7899-24E6-401C-9D46-CFAA1E24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52600"/>
            <a:ext cx="5052318" cy="1216025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def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1. Literature findings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Explicit rules can support explainable consultation. Chaining strategies serve different goals.</a:t>
            </a:r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FF66DAF5-0B91-4093-BD89-5CE7615E431A}"/>
              </a:ext>
            </a:extLst>
          </p:cNvPr>
          <p:cNvSpPr>
            <a:spLocks noGrp="1"/>
          </p:cNvSpPr>
          <p:nvPr/>
        </p:nvSpPr>
        <p:spPr>
          <a:xfrm>
            <a:off x="6096000" y="1752600"/>
            <a:ext cx="5452872" cy="1216024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def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2. Limitations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Reviewed systems vary in scope. Partial symptoms and knowledge maintenance remain challenges.</a:t>
            </a:r>
          </a:p>
        </p:txBody>
      </p: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85599EEB-0FFB-4C94-AB5E-41D5A47FE9B6}"/>
              </a:ext>
            </a:extLst>
          </p:cNvPr>
          <p:cNvSpPr>
            <a:spLocks noGrp="1"/>
          </p:cNvSpPr>
          <p:nvPr/>
        </p:nvSpPr>
        <p:spPr>
          <a:xfrm>
            <a:off x="766233" y="3645024"/>
            <a:ext cx="5177367" cy="1584176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def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3. Refined research gap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A single educational prototype should compare chaining methods, expose rule scores and check contradictions.</a:t>
            </a:r>
          </a:p>
        </p:txBody>
      </p:sp>
      <p:sp>
        <p:nvSpPr>
          <p:cNvPr id="24" name="Rounded Rectangle 6">
            <a:extLst>
              <a:ext uri="{FF2B5EF4-FFF2-40B4-BE49-F238E27FC236}">
                <a16:creationId xmlns:a16="http://schemas.microsoft.com/office/drawing/2014/main" id="{C31116F3-B074-468F-82D6-F9C068878439}"/>
              </a:ext>
            </a:extLst>
          </p:cNvPr>
          <p:cNvSpPr>
            <a:spLocks noGrp="1"/>
          </p:cNvSpPr>
          <p:nvPr/>
        </p:nvSpPr>
        <p:spPr>
          <a:xfrm>
            <a:off x="6199632" y="3794760"/>
            <a:ext cx="5349240" cy="143444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def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4. Progress toward the solution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Requirements and architecture defined at Review 1. Working inference and validation require confirmation.</a:t>
            </a:r>
          </a:p>
        </p:txBody>
      </p:sp>
    </p:spTree>
    <p:extLst>
      <p:ext uri="{BB962C8B-B14F-4D97-AF65-F5344CB8AC3E}">
        <p14:creationId xmlns:p14="http://schemas.microsoft.com/office/powerpoint/2010/main" val="463150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4CD429-912B-466D-A296-D7E10826A6FA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8191500" y="3405188"/>
            <a:ext cx="3333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D2613B-0160-4047-A94D-56EE907A1778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429250" y="3405188"/>
            <a:ext cx="3333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10681F-3F09-491E-BCBA-3605A6D17BAC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2809875" y="3405188"/>
            <a:ext cx="3333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System Architecture / Proposed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8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5831A8-272F-4DBC-B511-0D2163210C0F}"/>
              </a:ext>
            </a:extLst>
          </p:cNvPr>
          <p:cNvSpPr>
            <a:spLocks noGrp="1"/>
          </p:cNvSpPr>
          <p:nvPr/>
        </p:nvSpPr>
        <p:spPr>
          <a:xfrm>
            <a:off x="809625" y="1809750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900" b="1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Proposed architecture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C33CA0-BC6F-4BD6-8B12-6CB61A750D63}"/>
              </a:ext>
            </a:extLst>
          </p:cNvPr>
          <p:cNvSpPr>
            <a:spLocks noGrp="1"/>
          </p:cNvSpPr>
          <p:nvPr/>
        </p:nvSpPr>
        <p:spPr>
          <a:xfrm>
            <a:off x="809625" y="2714625"/>
            <a:ext cx="2000250" cy="1381125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User interface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Symptom search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follow-up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15EDB7-A506-4ED0-BD1A-0A486139D92F}"/>
              </a:ext>
            </a:extLst>
          </p:cNvPr>
          <p:cNvSpPr>
            <a:spLocks noGrp="1"/>
          </p:cNvSpPr>
          <p:nvPr/>
        </p:nvSpPr>
        <p:spPr>
          <a:xfrm>
            <a:off x="3143250" y="2714625"/>
            <a:ext cx="2286000" cy="1381125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Knowledge base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Diseases, facts,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rules and weights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5633BD-7136-4873-AE6C-8ECA50A35089}"/>
              </a:ext>
            </a:extLst>
          </p:cNvPr>
          <p:cNvSpPr>
            <a:spLocks noGrp="1"/>
          </p:cNvSpPr>
          <p:nvPr/>
        </p:nvSpPr>
        <p:spPr>
          <a:xfrm>
            <a:off x="5762625" y="2714625"/>
            <a:ext cx="2428875" cy="1381125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Inference engine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Forward / Backward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FOL / Resolution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7D128D-4304-4D47-9850-7E21ACCDEAE1}"/>
              </a:ext>
            </a:extLst>
          </p:cNvPr>
          <p:cNvSpPr>
            <a:spLocks noGrp="1"/>
          </p:cNvSpPr>
          <p:nvPr/>
        </p:nvSpPr>
        <p:spPr>
          <a:xfrm>
            <a:off x="8524875" y="2714625"/>
            <a:ext cx="2762250" cy="1381125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Output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Ranked matches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explanations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0419EC-17F6-4FE1-8979-A59636815D98}"/>
              </a:ext>
            </a:extLst>
          </p:cNvPr>
          <p:cNvSpPr>
            <a:spLocks noGrp="1"/>
          </p:cNvSpPr>
          <p:nvPr/>
        </p:nvSpPr>
        <p:spPr>
          <a:xfrm>
            <a:off x="809625" y="4524375"/>
            <a:ext cx="105727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21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1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Scoring and consistency checks link the inference trace to each result.</a:t>
            </a:r>
          </a:p>
          <a:p>
            <a:pPr algn="l">
              <a:defRPr sz="21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1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Admin tools maintain knowledge. History stores sessions and reports.</a:t>
            </a:r>
          </a:p>
        </p:txBody>
      </p:sp>
    </p:spTree>
    <p:extLst>
      <p:ext uri="{BB962C8B-B14F-4D97-AF65-F5344CB8AC3E}">
        <p14:creationId xmlns:p14="http://schemas.microsoft.com/office/powerpoint/2010/main" val="1839677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3BACA4C-4E15-436E-8650-E065A570A250}"/>
              </a:ext>
            </a:extLst>
          </p:cNvPr>
          <p:cNvCxnSpPr>
            <a:stCxn id="9" idx="4"/>
            <a:endCxn id="11" idx="0"/>
          </p:cNvCxnSpPr>
          <p:nvPr/>
        </p:nvCxnSpPr>
        <p:spPr>
          <a:xfrm flipH="1">
            <a:off x="6262688" y="4595813"/>
            <a:ext cx="23813" cy="500062"/>
          </a:xfrm>
          <a:prstGeom prst="straightConnector1">
            <a:avLst/>
          </a:prstGeom>
          <a:ln w="19050">
            <a:solidFill>
              <a:srgbClr val="203864"/>
            </a:solidFill>
            <a:headEnd type="triangle" w="sm" len="sm"/>
            <a:tailEnd type="triangle" w="sm" len="sm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B20B83E-E8C5-4DB1-BE28-AC598DF5BEE1}"/>
              </a:ext>
            </a:extLst>
          </p:cNvPr>
          <p:cNvCxnSpPr>
            <a:stCxn id="10" idx="1"/>
            <a:endCxn id="9" idx="6"/>
          </p:cNvCxnSpPr>
          <p:nvPr/>
        </p:nvCxnSpPr>
        <p:spPr>
          <a:xfrm flipH="1">
            <a:off x="7667625" y="3714750"/>
            <a:ext cx="214312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86AA6DD-36F4-44E7-8ECC-8702C764DB36}"/>
              </a:ext>
            </a:extLst>
          </p:cNvPr>
          <p:cNvCxnSpPr>
            <a:stCxn id="9" idx="2"/>
            <a:endCxn id="8" idx="3"/>
          </p:cNvCxnSpPr>
          <p:nvPr/>
        </p:nvCxnSpPr>
        <p:spPr>
          <a:xfrm flipH="1" flipV="1">
            <a:off x="2428875" y="3714750"/>
            <a:ext cx="2476500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794EA0F-19A3-468F-84E4-62E0A13608FE}"/>
              </a:ext>
            </a:extLst>
          </p:cNvPr>
          <p:cNvCxnSpPr>
            <a:stCxn id="8" idx="3"/>
            <a:endCxn id="9" idx="2"/>
          </p:cNvCxnSpPr>
          <p:nvPr/>
        </p:nvCxnSpPr>
        <p:spPr>
          <a:xfrm>
            <a:off x="2428875" y="3714750"/>
            <a:ext cx="2476500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DFD Diagram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9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2D6601-18A5-425F-B8FA-FBB38BC1C183}"/>
              </a:ext>
            </a:extLst>
          </p:cNvPr>
          <p:cNvSpPr>
            <a:spLocks noGrp="1"/>
          </p:cNvSpPr>
          <p:nvPr/>
        </p:nvSpPr>
        <p:spPr>
          <a:xfrm>
            <a:off x="809625" y="1809750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900" b="1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Level 0 context diagram (proposed)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66AB15-AE51-42BC-AA9E-AA8E5444A7A4}"/>
              </a:ext>
            </a:extLst>
          </p:cNvPr>
          <p:cNvSpPr>
            <a:spLocks noGrp="1"/>
          </p:cNvSpPr>
          <p:nvPr/>
        </p:nvSpPr>
        <p:spPr>
          <a:xfrm>
            <a:off x="809625" y="3286125"/>
            <a:ext cx="1619250" cy="85725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User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5BB0E49-5DC9-4246-86E5-1E7BB9708C32}"/>
              </a:ext>
            </a:extLst>
          </p:cNvPr>
          <p:cNvSpPr>
            <a:spLocks noGrp="1"/>
          </p:cNvSpPr>
          <p:nvPr/>
        </p:nvSpPr>
        <p:spPr>
          <a:xfrm>
            <a:off x="4905375" y="2833688"/>
            <a:ext cx="2762250" cy="1762125"/>
          </a:xfrm>
          <a:prstGeom prst="ellipse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 dirty="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MEDIXAI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 dirty="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Reasoning and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 dirty="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explanation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AC80E5-7787-4019-81BD-EABFA3DCC468}"/>
              </a:ext>
            </a:extLst>
          </p:cNvPr>
          <p:cNvSpPr>
            <a:spLocks noGrp="1"/>
          </p:cNvSpPr>
          <p:nvPr/>
        </p:nvSpPr>
        <p:spPr>
          <a:xfrm>
            <a:off x="9810750" y="3286125"/>
            <a:ext cx="1714500" cy="85725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Administrator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9AC7BA-8684-427E-A521-0F2EB6F6F008}"/>
              </a:ext>
            </a:extLst>
          </p:cNvPr>
          <p:cNvSpPr>
            <a:spLocks noGrp="1"/>
          </p:cNvSpPr>
          <p:nvPr/>
        </p:nvSpPr>
        <p:spPr>
          <a:xfrm>
            <a:off x="3810000" y="5095875"/>
            <a:ext cx="4905375" cy="7620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D1 Knowledge base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Symptoms, diseases, rules and weights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5E0EFF-1F06-4EED-A856-B4FCB908497F}"/>
              </a:ext>
            </a:extLst>
          </p:cNvPr>
          <p:cNvSpPr>
            <a:spLocks noGrp="1"/>
          </p:cNvSpPr>
          <p:nvPr/>
        </p:nvSpPr>
        <p:spPr>
          <a:xfrm>
            <a:off x="2571750" y="2857500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6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Symptoms / answers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DD6C82-3371-4F43-88AE-B1F8789FDB97}"/>
              </a:ext>
            </a:extLst>
          </p:cNvPr>
          <p:cNvSpPr>
            <a:spLocks noGrp="1"/>
          </p:cNvSpPr>
          <p:nvPr/>
        </p:nvSpPr>
        <p:spPr>
          <a:xfrm>
            <a:off x="2524125" y="41719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6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Matches / trace / report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EBB58F-0461-419C-BB1D-3FC5B107B8FE}"/>
              </a:ext>
            </a:extLst>
          </p:cNvPr>
          <p:cNvSpPr>
            <a:spLocks noGrp="1"/>
          </p:cNvSpPr>
          <p:nvPr/>
        </p:nvSpPr>
        <p:spPr>
          <a:xfrm>
            <a:off x="7905750" y="2857500"/>
            <a:ext cx="185737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6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Knowledge updates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631986-DED8-4FCA-B8E4-16529A98F1BB}"/>
              </a:ext>
            </a:extLst>
          </p:cNvPr>
          <p:cNvSpPr>
            <a:spLocks noGrp="1"/>
          </p:cNvSpPr>
          <p:nvPr/>
        </p:nvSpPr>
        <p:spPr>
          <a:xfrm>
            <a:off x="6429375" y="457200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6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Facts and rules</a:t>
            </a:r>
          </a:p>
        </p:txBody>
      </p:sp>
    </p:spTree>
    <p:extLst>
      <p:ext uri="{BB962C8B-B14F-4D97-AF65-F5344CB8AC3E}">
        <p14:creationId xmlns:p14="http://schemas.microsoft.com/office/powerpoint/2010/main" val="106677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95DECD9-813B-41BE-B26F-2D9B14DF07CC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8610600" y="4714875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7DCD437-08F4-4DBD-8649-AC18674E46D6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5924550" y="4714875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D4285C8-4816-4C1C-AFE6-A349DF991226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3238500" y="4714875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2B323E-0648-4797-B126-C0581A368790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8610600" y="2762250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EBE4F07-D905-434F-A139-6E00BEAF0F04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924550" y="2762250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938526-8F6D-4E2C-81ED-A54C3654704D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3238500" y="2762250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Methodology / Workflow Diagram</a:t>
            </a:r>
            <a:endParaRPr sz="28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10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5E61A3-2E0C-4724-9143-D7B0937B622F}"/>
              </a:ext>
            </a:extLst>
          </p:cNvPr>
          <p:cNvSpPr>
            <a:spLocks noGrp="1"/>
          </p:cNvSpPr>
          <p:nvPr/>
        </p:nvSpPr>
        <p:spPr>
          <a:xfrm>
            <a:off x="809625" y="1809750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900" b="1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Development workflow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5CBBB2-AB9B-4EBE-B2E8-B837B60136F6}"/>
              </a:ext>
            </a:extLst>
          </p:cNvPr>
          <p:cNvSpPr>
            <a:spLocks noGrp="1"/>
          </p:cNvSpPr>
          <p:nvPr/>
        </p:nvSpPr>
        <p:spPr>
          <a:xfrm>
            <a:off x="809625" y="2286000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Acquire and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validate knowledge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F9BBB6-4E4C-40CB-BBA7-A7B208DA000C}"/>
              </a:ext>
            </a:extLst>
          </p:cNvPr>
          <p:cNvSpPr>
            <a:spLocks noGrp="1"/>
          </p:cNvSpPr>
          <p:nvPr/>
        </p:nvSpPr>
        <p:spPr>
          <a:xfrm>
            <a:off x="3495675" y="2286000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Standardize IDs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encode rules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8CF58D-3259-421B-AE7A-A7B35A552E9B}"/>
              </a:ext>
            </a:extLst>
          </p:cNvPr>
          <p:cNvSpPr>
            <a:spLocks noGrp="1"/>
          </p:cNvSpPr>
          <p:nvPr/>
        </p:nvSpPr>
        <p:spPr>
          <a:xfrm>
            <a:off x="6181725" y="2286000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Implement engines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integrate UI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F29D32-371B-4CA2-A47A-84AAE6B57E84}"/>
              </a:ext>
            </a:extLst>
          </p:cNvPr>
          <p:cNvSpPr>
            <a:spLocks noGrp="1"/>
          </p:cNvSpPr>
          <p:nvPr/>
        </p:nvSpPr>
        <p:spPr>
          <a:xfrm>
            <a:off x="8867775" y="2286000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Test scenarios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compare methods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414DD0-40D3-4CC7-895C-C64706503EC4}"/>
              </a:ext>
            </a:extLst>
          </p:cNvPr>
          <p:cNvSpPr>
            <a:spLocks noGrp="1"/>
          </p:cNvSpPr>
          <p:nvPr/>
        </p:nvSpPr>
        <p:spPr>
          <a:xfrm>
            <a:off x="809625" y="3714750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900" b="1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Runtime workflow (proposed)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6CBA3E-7429-49FF-935A-56163B802EDB}"/>
              </a:ext>
            </a:extLst>
          </p:cNvPr>
          <p:cNvSpPr>
            <a:spLocks noGrp="1"/>
          </p:cNvSpPr>
          <p:nvPr/>
        </p:nvSpPr>
        <p:spPr>
          <a:xfrm>
            <a:off x="809625" y="4238625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Select symptoms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validate facts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68DA18-B69D-4389-B669-CEF3CDF04C9D}"/>
              </a:ext>
            </a:extLst>
          </p:cNvPr>
          <p:cNvSpPr>
            <a:spLocks noGrp="1"/>
          </p:cNvSpPr>
          <p:nvPr/>
        </p:nvSpPr>
        <p:spPr>
          <a:xfrm>
            <a:off x="3495675" y="4238625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Retrieve rules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infer matches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6F5ED8-FF28-4D3B-A5B6-A38AEB24BB51}"/>
              </a:ext>
            </a:extLst>
          </p:cNvPr>
          <p:cNvSpPr>
            <a:spLocks noGrp="1"/>
          </p:cNvSpPr>
          <p:nvPr/>
        </p:nvSpPr>
        <p:spPr>
          <a:xfrm>
            <a:off x="6181725" y="4238625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Check consistency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score rules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7372C9-20C4-4844-BC3E-9ACB93ED31D0}"/>
              </a:ext>
            </a:extLst>
          </p:cNvPr>
          <p:cNvSpPr>
            <a:spLocks noGrp="1"/>
          </p:cNvSpPr>
          <p:nvPr/>
        </p:nvSpPr>
        <p:spPr>
          <a:xfrm>
            <a:off x="8867775" y="4238625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Rank results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explain trace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F02BC2-EC0F-4FAB-A974-FF445B6B1B51}"/>
              </a:ext>
            </a:extLst>
          </p:cNvPr>
          <p:cNvSpPr>
            <a:spLocks noGrp="1"/>
          </p:cNvSpPr>
          <p:nvPr/>
        </p:nvSpPr>
        <p:spPr>
          <a:xfrm>
            <a:off x="809625" y="5495925"/>
            <a:ext cx="10572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Backward Chaining asks follow-up questions when required facts are missing.</a:t>
            </a:r>
          </a:p>
        </p:txBody>
      </p:sp>
    </p:spTree>
    <p:extLst>
      <p:ext uri="{BB962C8B-B14F-4D97-AF65-F5344CB8AC3E}">
        <p14:creationId xmlns:p14="http://schemas.microsoft.com/office/powerpoint/2010/main" val="2967815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Tools and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Python 3.12+ implements the rule engine and application logic.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Tkinter supports the planned desktop interface without a separate web server.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SQLite / JSON store diseases, symptoms, rules, weights and session history.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VS Code, GitHub and diagrams.net support development and design.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Standard laptop: 4 GB RAM minimum, 8 GB recommended. Knowledge comes from curated medical references.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8475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List of Modules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User and Symptom Entry: Pending at Review 1.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Medical Data Store and Rule Repository: In Progress at Review 1.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Classical Reasoning and Proof Engine: Pending at Review 1.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Explainability and Scoring: Pending at Review 1.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History and Reporting: Planned. Review 2 module status: [confirm].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1015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0000"/>
                </a:solidFill>
              </a:rPr>
              <a:t>Module Implementation – Part 1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Module focus: Medical Data Store and Rule Repository.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Input: curated disease–symptom relationships. Output: structured facts and rules for inference.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Planned record fields: symptom ID, disease ID, weight, required / optional flag and rule priority.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Design approach: separate SQLite / JSON knowledge records from inference logic.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Review 1 status: structure drafted, mapping in progress. Implementation and test evidence: [confirm].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7529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0000"/>
                </a:solidFill>
              </a:rPr>
              <a:t>Module Implementation – Part 2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Module focus: Classical Reasoning and Proof Engine.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Forward Chaining checks rule conditions against supplied facts and derives conclusions.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Backward Chaining starts with a candidate disease and checks required facts or asks questions.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FOL represents relations. Resolution checks whether encoded clauses lead to a contradiction.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Output feeds scoring and explanation. Review 1 status: pending. Review 2 tests and observations: [confirm].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8195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0000"/>
                </a:solidFill>
              </a:rPr>
              <a:t>Preliminary Results and Discussion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Review 1 reported expected outcomes and an illustrative output. Measured implementation results remain unconfirmed.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Planned metrics: rules checked, execution time and consistency between inference methods.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Planned tests: valid symptoms, missing facts, contradictory inputs and unknown symptoms.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Baseline: a single inference strategy using the same knowledge base and test cases.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Review 2 results: [add measured values, test outcomes and interpretation].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9638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64CE-7311-4C5B-AA2E-45ABB90D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0000"/>
                </a:solidFill>
              </a:rPr>
              <a:t>User Interface / Implementation Screenshots</a:t>
            </a:r>
            <a:endParaRPr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6B9F7-E796-4F54-83AC-54CFC2ABC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Working application screenshots: [add verified screenshots].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Symptom-entry screen should demonstrate search, selection and follow-up questions.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Results screen should show ranked matches, rule scores and matched / missing symptoms.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Explanation view should display fired rules, consistency warnings and the reasoning trace.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Review 1 placed user-interface implementation in the pending stage.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E2C3-AC88-4E92-99FF-8D9C75D3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None/>
            </a:pPr>
            <a:r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4BBD9-F4E8-4A60-9A83-C40083E30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6318D-05CC-4803-9541-7064C44F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fld id="{BDC2143B-610F-499C-A392-DFFBE135A7B2}" type="slidenum"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7265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Challenges Faced and Solutions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Knowledge consistency: use standardized symptom IDs and review each disease–symptom rule.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Incomplete inputs: use Backward Chaining to identify missing facts and ask follow-up questions.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Conflicting facts: encode explicit negation and validate contradictions through Resolution.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Score interpretation: explain weights and matched facts. Rule confidence represents a rule score, not a clinical probability.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Remaining issue: verify knowledge quality and implementation through documented tests.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9166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Work Plan Until Final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Proposed Week 1: finalize the symptom dictionary and initial 30–40 disease rule base.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Proposed Week 2: complete inference, consistency checking and rule scoring.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Proposed Week 3: integrate the desktop UI, admin tools, history and reports.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Proposed Week 4: run comparative tests, review knowledge and complete documentation.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0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Before the final review: capture screenshots and rehearse the demonstration. Exact dates: [confirm].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0162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References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19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7E4361-DCEA-44CB-BC17-CC36170F9898}"/>
              </a:ext>
            </a:extLst>
          </p:cNvPr>
          <p:cNvSpPr>
            <a:spLocks noGrp="1"/>
          </p:cNvSpPr>
          <p:nvPr/>
        </p:nvSpPr>
        <p:spPr>
          <a:xfrm>
            <a:off x="809625" y="1809750"/>
            <a:ext cx="10572750" cy="423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5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45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45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[1] Shortliffe, E. H. (1976). Computer-Based Medical Consultations: MYCIN. Elsevier.</a:t>
            </a:r>
          </a:p>
          <a:p>
            <a:endParaRPr sz="1450" b="0">
              <a:solidFill>
                <a:srgbClr val="000000"/>
              </a:solidFill>
              <a:latin typeface="Verdana"/>
              <a:ea typeface="Verdana"/>
              <a:cs typeface="Verdana"/>
            </a:endParaRPr>
          </a:p>
          <a:p>
            <a:pPr algn="l">
              <a:defRPr sz="145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45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[2] Mustafa, E. M., Saad, M. M., &amp; Rizkallah, L. W. (2023). Building an enhanced case-based reasoning and rule-based systems for medical diagnosis. Journal of Engineering and Applied Science, 70, 139. doi:10.1186/s44147-023-00315-4.</a:t>
            </a:r>
          </a:p>
          <a:p>
            <a:endParaRPr sz="1450" b="0">
              <a:solidFill>
                <a:srgbClr val="000000"/>
              </a:solidFill>
              <a:latin typeface="Verdana"/>
              <a:ea typeface="Verdana"/>
              <a:cs typeface="Verdana"/>
            </a:endParaRPr>
          </a:p>
          <a:p>
            <a:pPr algn="l">
              <a:defRPr sz="145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45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[3] Atim, S. B., &amp; Ibrahim, M. Y. I. (2025). Rule-Based Expert System Model with Backward Chaining Algorithm for Symptom-Based Skin Disease Diagnosis. Jurnal Teknologi dan Open Source, 8(1), 288–294. doi:10.36378/jtos.v8i1.4416.</a:t>
            </a:r>
          </a:p>
          <a:p>
            <a:endParaRPr sz="1450" b="0">
              <a:solidFill>
                <a:srgbClr val="000000"/>
              </a:solidFill>
              <a:latin typeface="Verdana"/>
              <a:ea typeface="Verdana"/>
              <a:cs typeface="Verdana"/>
            </a:endParaRPr>
          </a:p>
          <a:p>
            <a:pPr algn="l">
              <a:defRPr sz="145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45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[4] Al-Ajlan, A. (2015). The Comparison between Forward and Backward Chaining. International Journal of Machine Learning and Computing, 5(2), 106–113. doi:10.7763/IJMLC.2015.V5.492.</a:t>
            </a:r>
          </a:p>
          <a:p>
            <a:endParaRPr sz="1450" b="0">
              <a:solidFill>
                <a:srgbClr val="000000"/>
              </a:solidFill>
              <a:latin typeface="Verdana"/>
              <a:ea typeface="Verdana"/>
              <a:cs typeface="Verdana"/>
            </a:endParaRPr>
          </a:p>
          <a:p>
            <a:pPr algn="l">
              <a:defRPr sz="145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45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[5] Papadopoulos, P., et al. (2022). A systematic review of technologies and standards used in the development of rule-based clinical decision support systems. Health and Technology, 12, 713–727. doi:10.1007/s12553-022-00672-9.</a:t>
            </a:r>
          </a:p>
          <a:p>
            <a:endParaRPr sz="1450" b="0">
              <a:solidFill>
                <a:srgbClr val="000000"/>
              </a:solidFill>
              <a:latin typeface="Verdana"/>
              <a:ea typeface="Verdana"/>
              <a:cs typeface="Verdana"/>
            </a:endParaRPr>
          </a:p>
          <a:p>
            <a:pPr algn="l">
              <a:defRPr sz="145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45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[6] Python Software Foundation. Python Documentation. https://docs.python.org/</a:t>
            </a:r>
          </a:p>
          <a:p>
            <a:pPr algn="l">
              <a:defRPr sz="145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45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[7] SQLite. SQLite Documentation. https://www.sqlite.org/docs.html</a:t>
            </a:r>
          </a:p>
        </p:txBody>
      </p:sp>
    </p:spTree>
    <p:extLst>
      <p:ext uri="{BB962C8B-B14F-4D97-AF65-F5344CB8AC3E}">
        <p14:creationId xmlns:p14="http://schemas.microsoft.com/office/powerpoint/2010/main" val="2946422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>
              <a:buNone/>
            </a:pPr>
            <a:r>
              <a:rPr sz="4000" b="1">
                <a:solidFill>
                  <a:srgbClr val="FF0000"/>
                </a:solidFill>
              </a:rPr>
              <a:t>Thank You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fld id="{F583B680-F650-469F-A231-392F163461F6}" type="slidenum">
              <a:t>20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882448-E37C-4579-B77C-CB124DDB4830}"/>
              </a:ext>
            </a:extLst>
          </p:cNvPr>
          <p:cNvSpPr>
            <a:spLocks noGrp="1"/>
          </p:cNvSpPr>
          <p:nvPr/>
        </p:nvSpPr>
        <p:spPr>
          <a:xfrm>
            <a:off x="809625" y="4810125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00" b="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900" b="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900" b="0" dirty="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MEDIXAI</a:t>
            </a:r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2228</Words>
  <Application>Microsoft Office PowerPoint</Application>
  <DocSecurity>0</DocSecurity>
  <PresentationFormat>Widescreen</PresentationFormat>
  <Paragraphs>244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Verdana</vt:lpstr>
      <vt:lpstr>Wingdings</vt:lpstr>
      <vt:lpstr>Profile</vt:lpstr>
      <vt:lpstr>PowerPoint Presentation</vt:lpstr>
      <vt:lpstr>Problem Statement and Motivation</vt:lpstr>
      <vt:lpstr>Objectives</vt:lpstr>
      <vt:lpstr>Project Progress Since Review 1</vt:lpstr>
      <vt:lpstr>Literature Survey</vt:lpstr>
      <vt:lpstr>Literature Survey</vt:lpstr>
      <vt:lpstr> Research Gap and Project Response</vt:lpstr>
      <vt:lpstr>System Architecture / Proposed System</vt:lpstr>
      <vt:lpstr>DFD Diagram</vt:lpstr>
      <vt:lpstr>Methodology / Workflow Diagram</vt:lpstr>
      <vt:lpstr>Tools and Technologies</vt:lpstr>
      <vt:lpstr>List of Modules</vt:lpstr>
      <vt:lpstr>Module Implementation – Part 1</vt:lpstr>
      <vt:lpstr>Module Implementation – Part 2</vt:lpstr>
      <vt:lpstr>Preliminary Results and Discussion</vt:lpstr>
      <vt:lpstr>User Interface / Implementation Screenshots</vt:lpstr>
      <vt:lpstr>Challenges Faced and Solutions</vt:lpstr>
      <vt:lpstr>Work Plan Until Final Review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Nishanth</cp:lastModifiedBy>
  <cp:revision>4</cp:revision>
  <dcterms:created xsi:type="dcterms:W3CDTF">2026-10-13T12:29:55Z</dcterms:created>
  <dcterms:modified xsi:type="dcterms:W3CDTF">2026-10-13T16:41:02Z</dcterms:modified>
</cp:coreProperties>
</file>